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agentes-diagrama.svg" ContentType="image/svg+xml"/>
  <Override PartName="/ppt/media/agentes-isotipo.svg" ContentType="image/svg+xml"/>
  <Override PartName="/ppt/media/ascenso-relieve.svg" ContentType="image/svg+xml"/>
  <Override PartName="/ppt/media/cierre-imagotipo.svg" ContentType="image/svg+xml"/>
  <Override PartName="/ppt/media/demo-abrir.svg" ContentType="image/svg+xml"/>
  <Override PartName="/ppt/media/demo-logo.svg" ContentType="image/svg+xml"/>
  <Override PartName="/ppt/media/imagotipo-original.svg" ContentType="image/svg+xml"/>
  <Override PartName="/ppt/media/insight-diagrama.svg" ContentType="image/svg+xml"/>
  <Override PartName="/ppt/media/insight-isotipo.svg" ContentType="image/svg+xml"/>
  <Override PartName="/ppt/media/negocio-diagrama.svg" ContentType="image/svg+xml"/>
  <Override PartName="/ppt/media/negocio-isotipo.svg" ContentType="image/svg+xml"/>
  <Override PartName="/ppt/media/problema-diagrama.svg" ContentType="image/svg+xml"/>
  <Override PartName="/ppt/media/problema-isotipo.svg" ContentType="image/svg+xml"/>
  <Override PartName="/ppt/media/problema-logo-claude.svg" ContentType="image/svg+xml"/>
  <Override PartName="/ppt/media/problema-logo-gemini.svg" ContentType="image/svg+xml"/>
  <Override PartName="/ppt/media/problema-logo-grok.svg" ContentType="image/svg+xml"/>
  <Override PartName="/ppt/media/problema-logo-openai.svg" ContentType="image/svg+xml"/>
  <Override PartName="/ppt/media/solucion-diagrama.svg" ContentType="image/svg+xml"/>
  <Override PartName="/ppt/media/solucion-isotipo.svg" ContentType="image/svg+xml"/>
  <Override PartName="/ppt/media/solucion-logo-central.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 10 segundos</a:t>
            </a:r>
          </a:p>
          <a:p/>
          <a:p>
            <a:r>
              <a:t>Frase aprobada: Visibilidad de marca y remediación SEO/GEO.</a:t>
            </a:r>
          </a:p>
          <a:p/>
          <a:p>
            <a:r>
              <a:t>Fortop analiza la visibilidad de una marca y utiliza agentes para detectar y corregir problemas SEO/GEO en su web.</a:t>
            </a:r>
          </a:p>
          <a:p/>
          <a:p>
            <a:r>
              <a:t>Transición: empezar por la situación del cliente, antes de explicar el producto.</a:t>
            </a:r>
          </a:p>
          <a:p>
            <a:r>
              <a:t>Formato acordado: 3 minutos de pitch en español y 1 minuto adicional de demo.</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PROBLEMA · 25 segundos</a:t>
            </a:r>
          </a:p>
          <a:p/>
          <a:p>
            <a:r>
              <a:t>Una empresa puede tener una web cuidada y seguir quedando fuera cuando un cliente pide una recomendación. Necesita entender en qué consultas aparece, a qué competidores recomiendan y qué problemas de contenido o código debe corregir. Eso exige investigar respuestas, contrastar fuentes y coordinar cambios en la web.</a:t>
            </a:r>
          </a:p>
          <a:p/>
          <a:p>
            <a:r>
              <a:t>El ejemplo de software para pymes y los competidores A, B y C son ilustrativos. No representan una respuesta medida ni clientes reales. No se presentan cifras de adopción ni pérdidas de ingresos.</a:t>
            </a:r>
          </a:p>
          <a:p/>
          <a:p>
            <a:r>
              <a:t>Los símbolos de Grok, Gemini, Claude y OpenAI identifican asistentes en los que un cliente podría pedir recomendaciones. No representan integraciones disponibles en Fortop: el estudio actual mide Gemini API con búsqueda habilitada. Los SVG proceden de LobeHub Icons; originales, licencia y fuentes se conservan en assets/02-problema/logos.</a:t>
            </a:r>
          </a:p>
          <a:p>
            <a:r>
              <a:t>https://github.com/lobehub/lobe-icons</a:t>
            </a:r>
          </a:p>
          <a:p/>
          <a:p>
            <a:r>
              <a:t>Transición al insight: la visibilidad depende del contexto de la marca, del contenido y de la base técnica de su web; entender el problema y ejecutar mejoras son partes del mismo trabajo.</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INSIGHT · 20 segundos</a:t>
            </a:r>
          </a:p>
          <a:p/>
          <a:p>
            <a:r>
              <a:t>Tener una web no basta. Hay dos capas que influyen en su visibilidad: lo que cuenta y cómo está construida. El contenido debe responder a lo que busca el cliente. La base técnica permite que los buscadores rastreen e interpreten esa información. Una buena oferta puede perder oportunidades si una de esas capas falla.</a:t>
            </a:r>
          </a:p>
          <a:p/>
          <a:p>
            <a:r>
              <a:t>QUÉ EXPLICA LA SLIDE</a:t>
            </a:r>
          </a:p>
          <a:p>
            <a:r>
              <a:t>El insight presenta dos dimensiones complementarias del problema: relevancia del contenido y acceso técnico a la información publicada. No presenta el producto, sus agentes ni sus funcionalidades. La solución se introduce por primera vez en la diapositiva siguiente.</a:t>
            </a:r>
          </a:p>
          <a:p/>
          <a:p>
            <a:r>
              <a:t>La relevancia depende de la necesidad del público y del contenido que la responde. El acceso técnico incluye permitir el rastreo de las páginas públicas y facilitar su interpretación mediante texto, enlaces y metadatos coherentes.</a:t>
            </a:r>
          </a:p>
          <a:p/>
          <a:p>
            <a:r>
              <a:t>Estas dimensiones no son una lista exhaustiva de factores ni garantizan aparecer en una recomendación. También influyen las fuentes externas, la consulta y los sistemas de cada proveedor. Una marca puede ser mencionada a partir de fuentes de terceros aunque su web no sea rastreable. «Ser encontrado» se refiere aquí a facilitar el descubrimiento del contenido propio.</a:t>
            </a:r>
          </a:p>
          <a:p/>
          <a:p>
            <a:r>
              <a:t>BASE TÉCNICA Y FUENTES</a:t>
            </a:r>
          </a:p>
          <a:p>
            <a:r>
              <a:t>Google indica que las buenas prácticas SEO siguen siendo aplicables a sus funciones de búsqueda generativa: acceso al rastreo, contenido textual, enlaces internos y datos estructurados coherentes. No exige archivos ni marcado especiales, y cumplir los requisitos no garantiza aparición.</a:t>
            </a:r>
          </a:p>
          <a:p>
            <a:r>
              <a:t>https://developers.google.com/search/docs/appearance/ai-features</a:t>
            </a:r>
          </a:p>
          <a:p/>
          <a:p>
            <a:r>
              <a:t>Su guía de contenido útil recomienda atender al público previsto, aportar información fiable y valorar la experiencia de la página. La organización de estas ideas en dos capas es una síntesis para el pitch, no una clasificación oficial ni una promesa de posicionamiento.</a:t>
            </a:r>
          </a:p>
          <a:p>
            <a:r>
              <a:t>https://developers.google.com/search/docs/fundamentals/creating-helpful-content</a:t>
            </a:r>
          </a:p>
          <a:p/>
          <a:p>
            <a:r>
              <a:t>Fuentes consultadas el 22 de octubre de 2026. Transición: Fortop reúne investigación de marca y remediación técnica en una plataforma.</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SOLUCIÓN · 25 segundos</a:t>
            </a:r>
          </a:p>
          <a:p/>
          <a:p>
            <a:r>
              <a:t>Fortop trabaja esas dos capas desde una plataforma. Subes un brief o documentos de tu marca y recibes un estudio de presencia, competencia y fuentes, con evidencias y acciones priorizadas. O conectas tu repositorio de GitHub: los agentes analizan el código, proponen correcciones y publican issues y pull requests para que los revises. El informe y el historial quedan guardados en la plataforma.</a:t>
            </a:r>
          </a:p>
          <a:p/>
          <a:p>
            <a:r>
              <a:t>ALCANCE DE LA ILUSTRACIÓN</a:t>
            </a:r>
          </a:p>
          <a:p>
            <a:r>
              <a:t>Las dos vistas son ilustraciones simplificadas del producto, no capturas ni resultados de un estudio real. Las barras no representan porcentajes medidos. El cambio de título HTML es un ejemplo de corrección, no un cambio pendiente ni publicado en un repositorio real.</a:t>
            </a:r>
          </a:p>
          <a:p/>
          <a:p>
            <a:r>
              <a:t>El estudio actual mide Gemini API con búsqueda habilitada; no se presentan mediciones de ChatGPT o Claude. Los informes incluyen respuestas, citas, competencia, mercados y un plan de acción. La investigación de marca y el análisis de repositorios son recorridos independientes; una recomendación técnica puede enviarse a un repositorio conectado.</a:t>
            </a:r>
          </a:p>
          <a:p/>
          <a:p>
            <a:r>
              <a:t>Las correcciones pasan por comprobaciones y se proponen en GitHub; no se fusionan ni despliegan automáticamente. Un análisis también puede concluir sin cambios publicables. El contenido editorial y las acciones externas no se resuelven automáticamente al abrir un PR.</a:t>
            </a:r>
          </a:p>
          <a:p/>
          <a:p>
            <a:r>
              <a:t>BASE EN EL PRODUCTO</a:t>
            </a:r>
          </a:p>
          <a:p>
            <a:r>
              <a:t>fortop_platform/app/views/brands/_report.html.erb</a:t>
            </a:r>
          </a:p>
          <a:p>
            <a:r>
              <a:t>fortop_platform/app/views/brands/_document_upload.html.erb</a:t>
            </a:r>
          </a:p>
          <a:p>
            <a:r>
              <a:t>fortop_platform/app/views/repositories/_analysis.html.erb</a:t>
            </a:r>
          </a:p>
          <a:p/>
          <a:p>
            <a:r>
              <a:t>Transición: explicar cómo los agentes investigan, corrigen y verifican antes de entregar los resultados.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SISTEMA AGÉNTICO · 35 segundos</a:t>
            </a:r>
          </a:p>
          <a:p/>
          <a:p>
            <a:r>
              <a:t>Detrás hay Google Gemini y herramientas propias. En marca, investigamos la web, repetimos preguntas por mercado y contrastamos identidades y citas antes de priorizar acciones. En código, un agente analiza y entrega hallazgos a otro que edita los archivos. El resultado de cada herramienta vuelve al agente: si una comprobación falla, puede reparar y repetir. Después, una verificación independiente controla la publicación. Los cambios llegan en un PR para revisión; las acciones y los resultados quedan guardados.</a:t>
            </a:r>
          </a:p>
          <a:p/>
          <a:p>
            <a:r>
              <a:t>CÓMO LEER EL DIAGRAMA</a:t>
            </a:r>
          </a:p>
          <a:p>
            <a:r>
              <a:t>Las dos filas resumen recorridos independientes. Los nodos son etapas del sistema, no ocho agentes autónomos ni ocho modelos. Se usa Google Gemini en ambos verticales. Las comprobaciones deterministas y la publicación las ejecuta la aplicación.</a:t>
            </a:r>
          </a:p>
          <a:p/>
          <a:p>
            <a:r>
              <a:t>MARCA</a:t>
            </a:r>
          </a:p>
          <a:p>
            <a:r>
              <a:t>El flujo interpreta el brief, investiga con búsqueda web, diseña preguntas por mercado y recoge respuestas independientes repetidas. Las preguntas de descubrimiento no incluyen el brief ni la marca esperada. Después extrae identidades por contexto y contrasta citas; las métricas se calculan en código. El diagnóstico vincula sus acciones a observaciones guardadas. «Investiga» agrupa interpretación e investigación; «Mide» incluye diseño del panel y mediciones. La fila no presenta un sistema de agentes que elija libremente todas las etapas: es un flujo orquestado con llamadas especializadas.</a:t>
            </a:r>
          </a:p>
          <a:p/>
          <a:p>
            <a:r>
              <a:t>REPOSITORIO</a:t>
            </a:r>
          </a:p>
          <a:p>
            <a:r>
              <a:t>El agente de análisis elige herramientas para listar, leer y buscar archivos y registrar hallazgos respaldados por citas del código leído. Un segundo agente recibe los hallazgos automatizables y utiliza herramientas de edición y validación. El runner devuelve el resultado de cada herramienta al modelo para que elija su siguiente acción.</a:t>
            </a:r>
          </a:p>
          <a:p/>
          <a:p>
            <a:r>
              <a:t>La flecha «Si falla, corrige» representa validate_changes dentro del ciclo de remediación. Si no puede preparar un cambio seguro, puede descartarlo y marcar el hallazgo para intervención manual. Al terminar, la aplicación hace otra verificación independiente antes de publicar. No es un reintento automático ilimitado tras cualquier fallo final.</a:t>
            </a:r>
          </a:p>
          <a:p/>
          <a:p>
            <a:r>
              <a:t>La validación comprueba alcance, sintaxis y algunas condiciones semánticas, según el formato. No sustituye la suite de tests ni el CI del repositorio. Las propuestas se publican en una rama separada, con issues y PR cuando corresponde; no se fusionan ni despliegan automáticamente.</a:t>
            </a:r>
          </a:p>
          <a:p/>
          <a:p>
            <a:r>
              <a:t>BASE EN EL CÓDIGO</a:t>
            </a:r>
          </a:p>
          <a:p>
            <a:r>
              <a:t>fortop_platform/app/services/visibility/pipeline.rb</a:t>
            </a:r>
          </a:p>
          <a:p>
            <a:r>
              <a:t>fortop_platform/app/services/visibility/evidence.rb</a:t>
            </a:r>
          </a:p>
          <a:p>
            <a:r>
              <a:t>fortop_platform/app/services/visibility/metrics.rb</a:t>
            </a:r>
          </a:p>
          <a:p>
            <a:r>
              <a:t>fortop_platform/app/services/agents/runner.rb</a:t>
            </a:r>
          </a:p>
          <a:p>
            <a:r>
              <a:t>fortop_platform/app/services/agents/analysis_tools.rb</a:t>
            </a:r>
          </a:p>
          <a:p>
            <a:r>
              <a:t>fortop_platform/app/services/agents/remediation_tools.rb</a:t>
            </a:r>
          </a:p>
          <a:p>
            <a:r>
              <a:t>fortop_platform/app/services/scans/pipeline.rb</a:t>
            </a:r>
          </a:p>
          <a:p>
            <a:r>
              <a:t>fortop_platform/app/services/scans/validator.rb</a:t>
            </a:r>
          </a:p>
          <a:p/>
          <a:p>
            <a:r>
              <a:t>Transición: enseñar la evidencia del producto construido y los resultados revisables.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 25 segundos de presentación; demostración de 1 minuto aparte</a:t>
            </a:r>
          </a:p>
          <a:p/>
          <a:p>
            <a:r>
              <a:t>Vamos a verlo en la aplicación. Primero, un estudio de marca con sus respuestas y fuentes. Después, un hallazgo del repositorio, su corrección y la propuesta en GitHub. El informe y los cambios quedan disponibles para revisarlos.</a:t>
            </a:r>
          </a:p>
          <a:p/>
          <a:p>
            <a:r>
              <a:t>ABRIR LA APLICACIÓN</a:t>
            </a:r>
          </a:p>
          <a:p>
            <a:r>
              <a:t>https://fortop.34-76-10-0.sslip.io</a:t>
            </a:r>
          </a:p>
          <a:p>
            <a:r>
              <a:t>El botón «Abrir demo» enlaza a la web en PowerPoint y PDF. La web requiere iniciar sesión con una cuenta autorizada. Para presentar, deja preparada la sesión de GitHub en el navegador.</a:t>
            </a:r>
          </a:p>
          <a:p/>
          <a:p>
            <a:r>
              <a:t>RECORRIDO PROPUESTO · 60 SEGUNDOS</a:t>
            </a:r>
          </a:p>
          <a:p>
            <a:r>
              <a:t>0–25 s: abrir un estudio de marca ya completado, mostrar el informe y una respuesta con sus fuentes.</a:t>
            </a:r>
          </a:p>
          <a:p>
            <a:r>
              <a:t>25–50 s: abrir un análisis de repositorio ya completado, enseñar un hallazgo y su diff, y mostrar el enlace al PR.</a:t>
            </a:r>
          </a:p>
          <a:p>
            <a:r>
              <a:t>50–60 s: volver a la presentación.</a:t>
            </a:r>
          </a:p>
          <a:p/>
          <a:p>
            <a:r>
              <a:t>Esta diapositiva sustituye las capturas de producto. Las imágenes y evidencias anteriores se conservan en assets/06-producto como material de trabajo y ya no aparecen en la slide. El minuto de demostración es adicional a los tres minutos de exposición acordados.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CLIENTE Y NEGOCIO · 25 segundos</a:t>
            </a:r>
          </a:p>
          <a:p/>
          <a:p>
            <a:r>
              <a:t>El cliente inicial es el fundador de un SaaS pequeño, con web en GitHub y sin especialista SEO. Fortop analiza la presencia de su marca en Gemini y prepara correcciones para su web que su desarrollador puede revisar. Proponemos una cuota mensual según el volumen de análisis. Primero lo probaríamos con fundadores para validar la utilidad y su disposición a pagar.</a:t>
            </a:r>
          </a:p>
          <a:p/>
          <a:p>
            <a:r>
              <a:t>MODELO PROPUESTO, PENDIENTE DE VALIDACIÓN COMERCIAL</a:t>
            </a:r>
          </a:p>
          <a:p>
            <a:r>
              <a:t>La diapositiva describe el segmento inicial acordado para el pitch: pequeñas empresas de software por suscripción, sin especialista SEO y con la web en GitHub. No afirma que existan clientes de pago, ingresos, contratos ni pilotos en marcha. No fija precios, ahorro, margen, conversión ni tamaño de mercado. La cuota mensual es una hipótesis de ingresos, no una tarifa comercial ya disponible.</a:t>
            </a:r>
          </a:p>
          <a:p/>
          <a:p>
            <a:r>
              <a:t>CLIENTE INICIAL</a:t>
            </a:r>
          </a:p>
          <a:p>
            <a:r>
              <a:t>Comprador: fundador de un SaaS pequeño, que necesita captar clientes y no tiene a una persona dedicada al SEO. Requisitos para probar ambos verticales: web propia en GitHub, acceso autorizado al repositorio y una persona capaz de revisar y aprobar los cambios. SaaS significa software por suscripción.</a:t>
            </a:r>
          </a:p>
          <a:p/>
          <a:p>
            <a:r>
              <a:t>Ejemplo hipotético para explicar el perfil si se pregunta: una empresa vende software de reservas para academias. Tiene producto y web, pero necesita entender si la recomiendan, frente a quién compite y qué puede mejorar en su sitio. No es un cliente real ni un caso de resultados demostrados.</a:t>
            </a:r>
          </a:p>
          <a:p/>
          <a:p>
            <a:r>
              <a:t>Los tres iconos representan al fundador, el diagnóstico con propuestas de código y el cobro mensual. El estudio de marca también puede utilizarse sin repositorio; la selección inicial de webs en GitHub permite validar la propuesta completa.</a:t>
            </a:r>
          </a:p>
          <a:p/>
          <a:p>
            <a:r>
              <a:t>INGRESOS</a:t>
            </a:r>
          </a:p>
          <a:p>
            <a:r>
              <a:t>La empresa contrataría una suscripción mensual para analizar su marca y su web. El precio variaría según el volumen de análisis: estudios de marca y análisis con remediación de código. Los precios y las condiciones comerciales están pendientes de diseño y prueba; no describen límites actuales de los agentes ni un sistema de cobro ya implementado. No se afirma que exista programación automática de análisis recurrentes.</a:t>
            </a:r>
          </a:p>
          <a:p/>
          <a:p>
            <a:r>
              <a:t>SERVICIO</a:t>
            </a:r>
          </a:p>
          <a:p>
            <a:r>
              <a:t>El diagnóstico mide presencia, competidores y fuentes en Gemini API con búsqueda habilitada. No mide las interfaces nativas de Gemini, ChatGPT o Claude. Las correcciones web se entregan como propuestas para revisión en GitHub; el fundador y su desarrollador conservan la decisión de fusionarlas y desplegarlas. No se promete que Fortop resuelva automáticamente toda acción editorial ni garantice posicionamiento.</a:t>
            </a:r>
          </a:p>
          <a:p/>
          <a:p>
            <a:r>
              <a:t>ENTRADA AL MERCADO</a:t>
            </a:r>
          </a:p>
          <a:p>
            <a:r>
              <a:t>Pruebas acompañadas con fundadores del perfil descrito. Evaluar utilidad del diagnóstico, aceptación de correcciones, tiempo de trabajo y coste de ejecución. Contrastar esas métricas con disposición a pagar antes de escalar. El ahorro es una variable a medir, no un resultado ya demostrado.</a:t>
            </a:r>
          </a:p>
          <a:p/>
          <a:p>
            <a:r>
              <a:t>BASE DEL MODELO</a:t>
            </a:r>
          </a:p>
          <a:p>
            <a:r>
              <a:t>Segmento y comprador definidos con el usuario para este pitch. Suscripción mensual según volumen como hipótesis comercial. El producto actual ofrece los dos verticales mostrados en las slides anteriores; la validación de mercado está pendiente.</a:t>
            </a:r>
          </a:p>
          <a:p/>
          <a:p>
            <a:r>
              <a:t>Transición: cerrar con la visión de Fortop.</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 15 segundos</a:t>
            </a:r>
          </a:p>
          <a:p/>
          <a:p>
            <a:r>
              <a:t>Fortop une el diagnóstico de tu marca con mejoras concretas para tu web. Queremos que una pequeña empresa pueda entender su visibilidad y actuar sobre ella, aunque no tenga equipo SEO. Gracias.</a:t>
            </a:r>
          </a:p>
          <a:p/>
          <a:p>
            <a:r>
              <a:t>IDEA DE CIERRE</a:t>
            </a:r>
          </a:p>
          <a:p>
            <a:r>
              <a:t>Entender la visibilidad de marca y poder actuar sobre la web desde un mismo producto. La frase resume los dos verticales construidos y el propósito para el cliente inicial. No introduce funciones futuras, cifras ni promesas de posicionamiento. Las correcciones siguen siendo propuestas que una persona revisa antes de fusionar y desplegar.</a:t>
            </a:r>
          </a:p>
          <a:p/>
          <a:p>
            <a:r>
              <a:t>REPARTO PREVISTO DEL PITCH</a:t>
            </a:r>
          </a:p>
          <a:p>
            <a:r>
              <a:t>Portada: 10 s. Problema: 25 s. Insight: 20 s. Solución: 25 s.</a:t>
            </a:r>
          </a:p>
          <a:p>
            <a:r>
              <a:t>Agentes: 35 s. Producto: 25 s. Cliente y negocio: 25 s. Cierre: 15 s.</a:t>
            </a:r>
          </a:p>
          <a:p>
            <a:r>
              <a:t>Total: 180 segundos. Demo aparte: 60 segundos.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ascenso-relieve.svg"/><Relationship Id="rId4" Type="http://schemas.openxmlformats.org/officeDocument/2006/relationships/image" Target="../media/image2.png"/><Relationship Id="rId5" Type="http://schemas.openxmlformats.org/officeDocument/2006/relationships/image" Target="../media/imagotipo-original.sv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problema-diagrama.svg"/><Relationship Id="rId4" Type="http://schemas.openxmlformats.org/officeDocument/2006/relationships/image" Target="../media/image4.png"/><Relationship Id="rId5" Type="http://schemas.openxmlformats.org/officeDocument/2006/relationships/image" Target="../media/problema-logo-grok.svg"/><Relationship Id="rId6" Type="http://schemas.openxmlformats.org/officeDocument/2006/relationships/image" Target="../media/image5.png"/><Relationship Id="rId7" Type="http://schemas.openxmlformats.org/officeDocument/2006/relationships/image" Target="../media/problema-logo-gemini.svg"/><Relationship Id="rId8" Type="http://schemas.openxmlformats.org/officeDocument/2006/relationships/image" Target="../media/image6.png"/><Relationship Id="rId9" Type="http://schemas.openxmlformats.org/officeDocument/2006/relationships/image" Target="../media/problema-logo-claude.svg"/><Relationship Id="rId10" Type="http://schemas.openxmlformats.org/officeDocument/2006/relationships/image" Target="../media/image7.png"/><Relationship Id="rId11" Type="http://schemas.openxmlformats.org/officeDocument/2006/relationships/image" Target="../media/problema-logo-openai.svg"/><Relationship Id="rId12" Type="http://schemas.openxmlformats.org/officeDocument/2006/relationships/image" Target="../media/image8.png"/><Relationship Id="rId13" Type="http://schemas.openxmlformats.org/officeDocument/2006/relationships/image" Target="../media/problema-isotipo.svg"/><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nsight-diagrama.svg"/><Relationship Id="rId4" Type="http://schemas.openxmlformats.org/officeDocument/2006/relationships/image" Target="../media/image10.png"/><Relationship Id="rId5" Type="http://schemas.openxmlformats.org/officeDocument/2006/relationships/image" Target="../media/insight-isotipo.sv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solucion-diagrama.svg"/><Relationship Id="rId4" Type="http://schemas.openxmlformats.org/officeDocument/2006/relationships/image" Target="../media/image12.png"/><Relationship Id="rId5" Type="http://schemas.openxmlformats.org/officeDocument/2006/relationships/image" Target="../media/solucion-logo-central.svg"/><Relationship Id="rId6" Type="http://schemas.openxmlformats.org/officeDocument/2006/relationships/image" Target="../media/image8.png"/><Relationship Id="rId7" Type="http://schemas.openxmlformats.org/officeDocument/2006/relationships/image" Target="../media/solucion-isotipo.sv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agentes-diagrama.svg"/><Relationship Id="rId4" Type="http://schemas.openxmlformats.org/officeDocument/2006/relationships/image" Target="../media/image10.png"/><Relationship Id="rId5" Type="http://schemas.openxmlformats.org/officeDocument/2006/relationships/image" Target="../media/agentes-isotipo.sv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demo-logo.svg"/><Relationship Id="rId4" Type="http://schemas.openxmlformats.org/officeDocument/2006/relationships/image" Target="../media/image14.png"/><Relationship Id="rId5" Type="http://schemas.openxmlformats.org/officeDocument/2006/relationships/image" Target="../media/demo-abrir.svg"/><Relationship Id="rId6" Type="http://schemas.openxmlformats.org/officeDocument/2006/relationships/hyperlink" Target="https://fortop.34-76-10-0.sslip.io" TargetMode="Externa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negocio-diagrama.svg"/><Relationship Id="rId4" Type="http://schemas.openxmlformats.org/officeDocument/2006/relationships/image" Target="../media/image10.png"/><Relationship Id="rId5" Type="http://schemas.openxmlformats.org/officeDocument/2006/relationships/image" Target="../media/negocio-isotipo.sv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cierre-imagotipo.svg"/><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3"/>
        </a:solidFill>
        <a:effectLst/>
      </p:bgPr>
    </p:bg>
    <p:spTree>
      <p:nvGrpSpPr>
        <p:cNvPr id="1" name=""/>
        <p:cNvGrpSpPr/>
        <p:nvPr/>
      </p:nvGrpSpPr>
      <p:grpSpPr/>
      <p:pic>
        <p:nvPicPr>
          <p:cNvPr id="2" name="ascenso-relieve"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85000" y="1104900"/>
            <a:ext cx="5461000" cy="4826000"/>
          </a:xfrm>
          <a:prstGeom prst="rect">
            <a:avLst/>
          </a:prstGeom>
        </p:spPr>
      </p:pic>
      <p:pic>
        <p:nvPicPr>
          <p:cNvPr id="3" name="imagotipo-original" descr="image.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8200" y="2146300"/>
            <a:ext cx="5715000" cy="1268857"/>
          </a:xfrm>
          <a:prstGeom prst="rect">
            <a:avLst/>
          </a:prstGeom>
        </p:spPr>
      </p:pic>
      <p:sp>
        <p:nvSpPr>
          <p:cNvPr id="4" name="Visibilidad de marca"/>
          <p:cNvSpPr txBox="1"/>
          <p:nvPr/>
        </p:nvSpPr>
        <p:spPr>
          <a:xfrm>
            <a:off x="838200" y="3774439"/>
            <a:ext cx="6413500" cy="457200"/>
          </a:xfrm>
          <a:prstGeom prst="rect">
            <a:avLst/>
          </a:prstGeom>
          <a:noFill/>
        </p:spPr>
        <p:txBody>
          <a:bodyPr wrap="none" lIns="0" rIns="0" tIns="0" bIns="0" anchor="t">
            <a:noAutofit/>
          </a:bodyPr>
          <a:lstStyle/>
          <a:p>
            <a:pPr>
              <a:lnSpc>
                <a:spcPct val="100000"/>
              </a:lnSpc>
              <a:spcBef>
                <a:spcPts val="0"/>
              </a:spcBef>
              <a:spcAft>
                <a:spcPts val="0"/>
              </a:spcAft>
            </a:pPr>
            <a:r>
              <a:rPr sz="2400" b="0" lang="es-ES">
                <a:solidFill>
                  <a:srgbClr val="2E282A"/>
                </a:solidFill>
                <a:latin typeface="Bahnschrift"/>
              </a:rPr>
              <a:t>Visibilidad de marca</a:t>
            </a:r>
          </a:p>
        </p:txBody>
      </p:sp>
      <p:sp>
        <p:nvSpPr>
          <p:cNvPr id="5" name="y remediación SEO/GEO."/>
          <p:cNvSpPr txBox="1"/>
          <p:nvPr/>
        </p:nvSpPr>
        <p:spPr>
          <a:xfrm>
            <a:off x="838200" y="4193540"/>
            <a:ext cx="6413500" cy="457200"/>
          </a:xfrm>
          <a:prstGeom prst="rect">
            <a:avLst/>
          </a:prstGeom>
          <a:noFill/>
        </p:spPr>
        <p:txBody>
          <a:bodyPr wrap="none" lIns="0" rIns="0" tIns="0" bIns="0" anchor="t">
            <a:noAutofit/>
          </a:bodyPr>
          <a:lstStyle/>
          <a:p>
            <a:pPr>
              <a:lnSpc>
                <a:spcPct val="100000"/>
              </a:lnSpc>
              <a:spcBef>
                <a:spcPts val="0"/>
              </a:spcBef>
              <a:spcAft>
                <a:spcPts val="0"/>
              </a:spcAft>
            </a:pPr>
            <a:r>
              <a:rPr sz="2400" b="0" lang="es-ES">
                <a:solidFill>
                  <a:srgbClr val="2B4F42"/>
                </a:solidFill>
                <a:latin typeface="Bahnschrift"/>
              </a:rPr>
              <a:t>y remediación SEO/GEO.</a:t>
            </a:r>
          </a:p>
        </p:txBody>
      </p:sp>
      <p:sp>
        <p:nvSpPr>
          <p:cNvPr id="6" name="Rafael Pradillo  ·  Álvaro Fernández-Aller  ·  Carlos Blázquez  ·  Alejandro Ferreras  ·  Jaime Poyatos"/>
          <p:cNvSpPr txBox="1"/>
          <p:nvPr/>
        </p:nvSpPr>
        <p:spPr>
          <a:xfrm>
            <a:off x="838200" y="5977255"/>
            <a:ext cx="10515600" cy="247649"/>
          </a:xfrm>
          <a:prstGeom prst="rect">
            <a:avLst/>
          </a:prstGeom>
          <a:noFill/>
        </p:spPr>
        <p:txBody>
          <a:bodyPr wrap="none" lIns="0" rIns="0" tIns="0" bIns="0" anchor="t">
            <a:noAutofit/>
          </a:bodyPr>
          <a:lstStyle/>
          <a:p>
            <a:pPr>
              <a:lnSpc>
                <a:spcPct val="100000"/>
              </a:lnSpc>
              <a:spcBef>
                <a:spcPts val="0"/>
              </a:spcBef>
              <a:spcAft>
                <a:spcPts val="0"/>
              </a:spcAft>
            </a:pPr>
            <a:r>
              <a:rPr sz="1300" b="0" lang="es-ES">
                <a:solidFill>
                  <a:srgbClr val="2B4F42"/>
                </a:solidFill>
                <a:latin typeface="Bahnschrift"/>
              </a:rPr>
              <a:t>Rafael Pradillo  ·  Álvaro Fernández-Aller  ·  Carlos Blázquez  ·  Alejandro Ferreras  ·  Jaime Poyatos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3"/>
        </a:solidFill>
        <a:effectLst/>
      </p:bgPr>
    </p:bg>
    <p:spTree>
      <p:nvGrpSpPr>
        <p:cNvPr id="1" name=""/>
        <p:cNvGrpSpPr/>
        <p:nvPr/>
      </p:nvGrpSpPr>
      <p:grpSpPr/>
      <p:pic>
        <p:nvPicPr>
          <p:cNvPr id="2" name="problema-diagrama"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3" name="problema-logo-grok" descr="image.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30850" y="3092450"/>
            <a:ext cx="444500" cy="444500"/>
          </a:xfrm>
          <a:prstGeom prst="rect">
            <a:avLst/>
          </a:prstGeom>
        </p:spPr>
      </p:pic>
      <p:pic>
        <p:nvPicPr>
          <p:cNvPr id="4" name="problema-logo-gemini" descr="image.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80150" y="3079750"/>
            <a:ext cx="469899" cy="469899"/>
          </a:xfrm>
          <a:prstGeom prst="rect">
            <a:avLst/>
          </a:prstGeom>
        </p:spPr>
      </p:pic>
      <p:pic>
        <p:nvPicPr>
          <p:cNvPr id="5" name="problema-logo-claude" descr="image.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37200" y="3860800"/>
            <a:ext cx="431800" cy="431800"/>
          </a:xfrm>
          <a:prstGeom prst="rect">
            <a:avLst/>
          </a:prstGeom>
        </p:spPr>
      </p:pic>
      <p:pic>
        <p:nvPicPr>
          <p:cNvPr id="6" name="problema-logo-openai" descr="image.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92850" y="3854450"/>
            <a:ext cx="444500" cy="444500"/>
          </a:xfrm>
          <a:prstGeom prst="rect">
            <a:avLst/>
          </a:prstGeom>
        </p:spPr>
      </p:pic>
      <p:pic>
        <p:nvPicPr>
          <p:cNvPr id="7" name="problema-isotipo" descr="image.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036300" y="476250"/>
            <a:ext cx="317500" cy="272161"/>
          </a:xfrm>
          <a:prstGeom prst="rect">
            <a:avLst/>
          </a:prstGeom>
        </p:spPr>
      </p:pic>
      <p:sp>
        <p:nvSpPr>
          <p:cNvPr id="8" name="EL PROBLEMA"/>
          <p:cNvSpPr txBox="1"/>
          <p:nvPr/>
        </p:nvSpPr>
        <p:spPr>
          <a:xfrm>
            <a:off x="838200" y="560387"/>
            <a:ext cx="3048000"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2B4F42"/>
                </a:solidFill>
                <a:latin typeface="Bahnschrift"/>
              </a:rPr>
              <a:t>EL PROBLEMA</a:t>
            </a:r>
          </a:p>
        </p:txBody>
      </p:sp>
      <p:sp>
        <p:nvSpPr>
          <p:cNvPr id="9" name="Tus clientes piden recomendaciones."/>
          <p:cNvSpPr txBox="1"/>
          <p:nvPr/>
        </p:nvSpPr>
        <p:spPr>
          <a:xfrm>
            <a:off x="838200" y="1062990"/>
            <a:ext cx="10515600" cy="647700"/>
          </a:xfrm>
          <a:prstGeom prst="rect">
            <a:avLst/>
          </a:prstGeom>
          <a:noFill/>
        </p:spPr>
        <p:txBody>
          <a:bodyPr wrap="none" lIns="0" rIns="0" tIns="0" bIns="0" anchor="t">
            <a:noAutofit/>
          </a:bodyPr>
          <a:lstStyle/>
          <a:p>
            <a:pPr>
              <a:lnSpc>
                <a:spcPct val="100000"/>
              </a:lnSpc>
              <a:spcBef>
                <a:spcPts val="0"/>
              </a:spcBef>
              <a:spcAft>
                <a:spcPts val="0"/>
              </a:spcAft>
            </a:pPr>
            <a:r>
              <a:rPr sz="3400" b="0" lang="es-ES">
                <a:solidFill>
                  <a:srgbClr val="2E282A"/>
                </a:solidFill>
                <a:latin typeface="Bahnschrift"/>
              </a:rPr>
              <a:t>Tus clientes piden recomendaciones.</a:t>
            </a:r>
          </a:p>
        </p:txBody>
      </p:sp>
      <p:sp>
        <p:nvSpPr>
          <p:cNvPr id="10" name="¿Aparece tu marca?"/>
          <p:cNvSpPr txBox="1"/>
          <p:nvPr/>
        </p:nvSpPr>
        <p:spPr>
          <a:xfrm>
            <a:off x="838200" y="1609090"/>
            <a:ext cx="10515600" cy="647700"/>
          </a:xfrm>
          <a:prstGeom prst="rect">
            <a:avLst/>
          </a:prstGeom>
          <a:noFill/>
        </p:spPr>
        <p:txBody>
          <a:bodyPr wrap="none" lIns="0" rIns="0" tIns="0" bIns="0" anchor="t">
            <a:noAutofit/>
          </a:bodyPr>
          <a:lstStyle/>
          <a:p>
            <a:pPr>
              <a:lnSpc>
                <a:spcPct val="100000"/>
              </a:lnSpc>
              <a:spcBef>
                <a:spcPts val="0"/>
              </a:spcBef>
              <a:spcAft>
                <a:spcPts val="0"/>
              </a:spcAft>
            </a:pPr>
            <a:r>
              <a:rPr sz="3400" b="0" lang="es-ES">
                <a:solidFill>
                  <a:srgbClr val="2B4F42"/>
                </a:solidFill>
                <a:latin typeface="Bahnschrift"/>
              </a:rPr>
              <a:t>¿Aparece tu marca?</a:t>
            </a:r>
          </a:p>
        </p:txBody>
      </p:sp>
      <p:sp>
        <p:nvSpPr>
          <p:cNvPr id="11" name="¿Qué software de gestión"/>
          <p:cNvSpPr txBox="1"/>
          <p:nvPr/>
        </p:nvSpPr>
        <p:spPr>
          <a:xfrm>
            <a:off x="1104900" y="3359467"/>
            <a:ext cx="3479800" cy="390525"/>
          </a:xfrm>
          <a:prstGeom prst="rect">
            <a:avLst/>
          </a:prstGeom>
          <a:noFill/>
        </p:spPr>
        <p:txBody>
          <a:bodyPr wrap="none" lIns="0" rIns="0" tIns="0" bIns="0" anchor="t">
            <a:noAutofit/>
          </a:bodyPr>
          <a:lstStyle/>
          <a:p>
            <a:pPr>
              <a:lnSpc>
                <a:spcPct val="100000"/>
              </a:lnSpc>
              <a:spcBef>
                <a:spcPts val="0"/>
              </a:spcBef>
              <a:spcAft>
                <a:spcPts val="0"/>
              </a:spcAft>
            </a:pPr>
            <a:r>
              <a:rPr sz="2050" b="0" lang="es-ES">
                <a:solidFill>
                  <a:srgbClr val="2E282A"/>
                </a:solidFill>
                <a:latin typeface="Bahnschrift"/>
              </a:rPr>
              <a:t>¿Qué software de gestión</a:t>
            </a:r>
          </a:p>
        </p:txBody>
      </p:sp>
      <p:sp>
        <p:nvSpPr>
          <p:cNvPr id="12" name="recomiendas para una pyme?"/>
          <p:cNvSpPr txBox="1"/>
          <p:nvPr/>
        </p:nvSpPr>
        <p:spPr>
          <a:xfrm>
            <a:off x="1104900" y="3727767"/>
            <a:ext cx="3479800" cy="390525"/>
          </a:xfrm>
          <a:prstGeom prst="rect">
            <a:avLst/>
          </a:prstGeom>
          <a:noFill/>
        </p:spPr>
        <p:txBody>
          <a:bodyPr wrap="none" lIns="0" rIns="0" tIns="0" bIns="0" anchor="t">
            <a:noAutofit/>
          </a:bodyPr>
          <a:lstStyle/>
          <a:p>
            <a:pPr>
              <a:lnSpc>
                <a:spcPct val="100000"/>
              </a:lnSpc>
              <a:spcBef>
                <a:spcPts val="0"/>
              </a:spcBef>
              <a:spcAft>
                <a:spcPts val="0"/>
              </a:spcAft>
            </a:pPr>
            <a:r>
              <a:rPr sz="2050" b="0" lang="es-ES">
                <a:solidFill>
                  <a:srgbClr val="2E282A"/>
                </a:solidFill>
                <a:latin typeface="Bahnschrift"/>
              </a:rPr>
              <a:t>recomiendas para una pyme?</a:t>
            </a:r>
          </a:p>
        </p:txBody>
      </p:sp>
      <p:sp>
        <p:nvSpPr>
          <p:cNvPr id="13" name="01"/>
          <p:cNvSpPr txBox="1"/>
          <p:nvPr/>
        </p:nvSpPr>
        <p:spPr>
          <a:xfrm>
            <a:off x="7835900" y="3112770"/>
            <a:ext cx="34925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2B4F42"/>
                </a:solidFill>
                <a:latin typeface="Bahnschrift"/>
              </a:rPr>
              <a:t>01</a:t>
            </a:r>
          </a:p>
        </p:txBody>
      </p:sp>
      <p:sp>
        <p:nvSpPr>
          <p:cNvPr id="14" name="Competidor A"/>
          <p:cNvSpPr txBox="1"/>
          <p:nvPr/>
        </p:nvSpPr>
        <p:spPr>
          <a:xfrm>
            <a:off x="8267699" y="3046412"/>
            <a:ext cx="3086100" cy="333375"/>
          </a:xfrm>
          <a:prstGeom prst="rect">
            <a:avLst/>
          </a:prstGeom>
          <a:noFill/>
        </p:spPr>
        <p:txBody>
          <a:bodyPr wrap="none" lIns="0" rIns="0" tIns="0" bIns="0" anchor="t">
            <a:noAutofit/>
          </a:bodyPr>
          <a:lstStyle/>
          <a:p>
            <a:pPr>
              <a:lnSpc>
                <a:spcPct val="100000"/>
              </a:lnSpc>
              <a:spcBef>
                <a:spcPts val="0"/>
              </a:spcBef>
              <a:spcAft>
                <a:spcPts val="0"/>
              </a:spcAft>
            </a:pPr>
            <a:r>
              <a:rPr sz="1750" b="0" lang="es-ES">
                <a:solidFill>
                  <a:srgbClr val="2E282A"/>
                </a:solidFill>
                <a:latin typeface="Bahnschrift"/>
              </a:rPr>
              <a:t>Competidor A</a:t>
            </a:r>
          </a:p>
        </p:txBody>
      </p:sp>
      <p:sp>
        <p:nvSpPr>
          <p:cNvPr id="15" name="02"/>
          <p:cNvSpPr txBox="1"/>
          <p:nvPr/>
        </p:nvSpPr>
        <p:spPr>
          <a:xfrm>
            <a:off x="7835900" y="3582670"/>
            <a:ext cx="34925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2B4F42"/>
                </a:solidFill>
                <a:latin typeface="Bahnschrift"/>
              </a:rPr>
              <a:t>02</a:t>
            </a:r>
          </a:p>
        </p:txBody>
      </p:sp>
      <p:sp>
        <p:nvSpPr>
          <p:cNvPr id="16" name="Competidor B"/>
          <p:cNvSpPr txBox="1"/>
          <p:nvPr/>
        </p:nvSpPr>
        <p:spPr>
          <a:xfrm>
            <a:off x="8267699" y="3516312"/>
            <a:ext cx="3086100" cy="333375"/>
          </a:xfrm>
          <a:prstGeom prst="rect">
            <a:avLst/>
          </a:prstGeom>
          <a:noFill/>
        </p:spPr>
        <p:txBody>
          <a:bodyPr wrap="none" lIns="0" rIns="0" tIns="0" bIns="0" anchor="t">
            <a:noAutofit/>
          </a:bodyPr>
          <a:lstStyle/>
          <a:p>
            <a:pPr>
              <a:lnSpc>
                <a:spcPct val="100000"/>
              </a:lnSpc>
              <a:spcBef>
                <a:spcPts val="0"/>
              </a:spcBef>
              <a:spcAft>
                <a:spcPts val="0"/>
              </a:spcAft>
            </a:pPr>
            <a:r>
              <a:rPr sz="1750" b="0" lang="es-ES">
                <a:solidFill>
                  <a:srgbClr val="2E282A"/>
                </a:solidFill>
                <a:latin typeface="Bahnschrift"/>
              </a:rPr>
              <a:t>Competidor B</a:t>
            </a:r>
          </a:p>
        </p:txBody>
      </p:sp>
      <p:sp>
        <p:nvSpPr>
          <p:cNvPr id="17" name="03"/>
          <p:cNvSpPr txBox="1"/>
          <p:nvPr/>
        </p:nvSpPr>
        <p:spPr>
          <a:xfrm>
            <a:off x="7835900" y="4052570"/>
            <a:ext cx="34925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2B4F42"/>
                </a:solidFill>
                <a:latin typeface="Bahnschrift"/>
              </a:rPr>
              <a:t>03</a:t>
            </a:r>
          </a:p>
        </p:txBody>
      </p:sp>
      <p:sp>
        <p:nvSpPr>
          <p:cNvPr id="18" name="Competidor C"/>
          <p:cNvSpPr txBox="1"/>
          <p:nvPr/>
        </p:nvSpPr>
        <p:spPr>
          <a:xfrm>
            <a:off x="8267699" y="3986212"/>
            <a:ext cx="3086100" cy="333375"/>
          </a:xfrm>
          <a:prstGeom prst="rect">
            <a:avLst/>
          </a:prstGeom>
          <a:noFill/>
        </p:spPr>
        <p:txBody>
          <a:bodyPr wrap="none" lIns="0" rIns="0" tIns="0" bIns="0" anchor="t">
            <a:noAutofit/>
          </a:bodyPr>
          <a:lstStyle/>
          <a:p>
            <a:pPr>
              <a:lnSpc>
                <a:spcPct val="100000"/>
              </a:lnSpc>
              <a:spcBef>
                <a:spcPts val="0"/>
              </a:spcBef>
              <a:spcAft>
                <a:spcPts val="0"/>
              </a:spcAft>
            </a:pPr>
            <a:r>
              <a:rPr sz="1750" b="0" lang="es-ES">
                <a:solidFill>
                  <a:srgbClr val="2E282A"/>
                </a:solidFill>
                <a:latin typeface="Bahnschrift"/>
              </a:rPr>
              <a:t>Competidor C</a:t>
            </a:r>
          </a:p>
        </p:txBody>
      </p:sp>
      <p:sp>
        <p:nvSpPr>
          <p:cNvPr id="19" name="¿Y tu marca?"/>
          <p:cNvSpPr txBox="1"/>
          <p:nvPr/>
        </p:nvSpPr>
        <p:spPr>
          <a:xfrm>
            <a:off x="8267699" y="4615815"/>
            <a:ext cx="3086100" cy="361950"/>
          </a:xfrm>
          <a:prstGeom prst="rect">
            <a:avLst/>
          </a:prstGeom>
          <a:noFill/>
        </p:spPr>
        <p:txBody>
          <a:bodyPr wrap="none" lIns="0" rIns="0" tIns="0" bIns="0" anchor="t">
            <a:noAutofit/>
          </a:bodyPr>
          <a:lstStyle/>
          <a:p>
            <a:pPr>
              <a:lnSpc>
                <a:spcPct val="100000"/>
              </a:lnSpc>
              <a:spcBef>
                <a:spcPts val="0"/>
              </a:spcBef>
              <a:spcAft>
                <a:spcPts val="0"/>
              </a:spcAft>
            </a:pPr>
            <a:r>
              <a:rPr sz="1900" b="0" lang="es-ES">
                <a:solidFill>
                  <a:srgbClr val="2B4F42"/>
                </a:solidFill>
                <a:latin typeface="Bahnschrift"/>
              </a:rPr>
              <a:t>¿Y tu marca?</a:t>
            </a:r>
          </a:p>
        </p:txBody>
      </p:sp>
      <p:sp>
        <p:nvSpPr>
          <p:cNvPr id="20" name="¿Dónde apareces?"/>
          <p:cNvSpPr txBox="1"/>
          <p:nvPr/>
        </p:nvSpPr>
        <p:spPr>
          <a:xfrm>
            <a:off x="1200150" y="5700395"/>
            <a:ext cx="2952750" cy="323850"/>
          </a:xfrm>
          <a:prstGeom prst="rect">
            <a:avLst/>
          </a:prstGeom>
          <a:noFill/>
        </p:spPr>
        <p:txBody>
          <a:bodyPr wrap="none" lIns="0" rIns="0" tIns="0" bIns="0" anchor="t">
            <a:noAutofit/>
          </a:bodyPr>
          <a:lstStyle/>
          <a:p>
            <a:pPr>
              <a:lnSpc>
                <a:spcPct val="100000"/>
              </a:lnSpc>
              <a:spcBef>
                <a:spcPts val="0"/>
              </a:spcBef>
              <a:spcAft>
                <a:spcPts val="0"/>
              </a:spcAft>
            </a:pPr>
            <a:r>
              <a:rPr sz="1700" b="0" lang="es-ES">
                <a:solidFill>
                  <a:srgbClr val="2E282A"/>
                </a:solidFill>
                <a:latin typeface="Bahnschrift"/>
              </a:rPr>
              <a:t>¿Dónde apareces?</a:t>
            </a:r>
          </a:p>
        </p:txBody>
      </p:sp>
      <p:sp>
        <p:nvSpPr>
          <p:cNvPr id="21" name="¿A quién recomiendan?"/>
          <p:cNvSpPr txBox="1"/>
          <p:nvPr/>
        </p:nvSpPr>
        <p:spPr>
          <a:xfrm>
            <a:off x="4870450" y="5700395"/>
            <a:ext cx="2952750" cy="323850"/>
          </a:xfrm>
          <a:prstGeom prst="rect">
            <a:avLst/>
          </a:prstGeom>
          <a:noFill/>
        </p:spPr>
        <p:txBody>
          <a:bodyPr wrap="none" lIns="0" rIns="0" tIns="0" bIns="0" anchor="t">
            <a:noAutofit/>
          </a:bodyPr>
          <a:lstStyle/>
          <a:p>
            <a:pPr>
              <a:lnSpc>
                <a:spcPct val="100000"/>
              </a:lnSpc>
              <a:spcBef>
                <a:spcPts val="0"/>
              </a:spcBef>
              <a:spcAft>
                <a:spcPts val="0"/>
              </a:spcAft>
            </a:pPr>
            <a:r>
              <a:rPr sz="1700" b="0" lang="es-ES">
                <a:solidFill>
                  <a:srgbClr val="2E282A"/>
                </a:solidFill>
                <a:latin typeface="Bahnschrift"/>
              </a:rPr>
              <a:t>¿A quién recomiendan?</a:t>
            </a:r>
          </a:p>
        </p:txBody>
      </p:sp>
      <p:sp>
        <p:nvSpPr>
          <p:cNvPr id="22" name="¿Qué debes corregir?"/>
          <p:cNvSpPr txBox="1"/>
          <p:nvPr/>
        </p:nvSpPr>
        <p:spPr>
          <a:xfrm>
            <a:off x="8528050" y="5700395"/>
            <a:ext cx="2825750" cy="323850"/>
          </a:xfrm>
          <a:prstGeom prst="rect">
            <a:avLst/>
          </a:prstGeom>
          <a:noFill/>
        </p:spPr>
        <p:txBody>
          <a:bodyPr wrap="none" lIns="0" rIns="0" tIns="0" bIns="0" anchor="t">
            <a:noAutofit/>
          </a:bodyPr>
          <a:lstStyle/>
          <a:p>
            <a:pPr>
              <a:lnSpc>
                <a:spcPct val="100000"/>
              </a:lnSpc>
              <a:spcBef>
                <a:spcPts val="0"/>
              </a:spcBef>
              <a:spcAft>
                <a:spcPts val="0"/>
              </a:spcAft>
            </a:pPr>
            <a:r>
              <a:rPr sz="1700" b="0" lang="es-ES">
                <a:solidFill>
                  <a:srgbClr val="2E282A"/>
                </a:solidFill>
                <a:latin typeface="Bahnschrift"/>
              </a:rPr>
              <a:t>¿Qué debes corregir?</a:t>
            </a:r>
          </a:p>
        </p:txBody>
      </p:sp>
      <p:sp>
        <p:nvSpPr>
          <p:cNvPr id="23" name="02 / 08"/>
          <p:cNvSpPr txBox="1"/>
          <p:nvPr/>
        </p:nvSpPr>
        <p:spPr>
          <a:xfrm>
            <a:off x="10845800" y="6369050"/>
            <a:ext cx="508000" cy="190500"/>
          </a:xfrm>
          <a:prstGeom prst="rect">
            <a:avLst/>
          </a:prstGeom>
          <a:noFill/>
        </p:spPr>
        <p:txBody>
          <a:bodyPr wrap="none" lIns="0" rIns="0" tIns="0" bIns="0" anchor="t">
            <a:noAutofit/>
          </a:bodyPr>
          <a:lstStyle/>
          <a:p>
            <a:pPr>
              <a:lnSpc>
                <a:spcPct val="100000"/>
              </a:lnSpc>
              <a:spcBef>
                <a:spcPts val="0"/>
              </a:spcBef>
              <a:spcAft>
                <a:spcPts val="0"/>
              </a:spcAft>
            </a:pPr>
            <a:r>
              <a:rPr sz="1000" b="0" lang="es-ES">
                <a:solidFill>
                  <a:srgbClr val="2B4F42"/>
                </a:solidFill>
                <a:latin typeface="Bahnschrift"/>
              </a:rPr>
              <a:t>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B4F42"/>
        </a:solidFill>
        <a:effectLst/>
      </p:bgPr>
    </p:bg>
    <p:spTree>
      <p:nvGrpSpPr>
        <p:cNvPr id="1" name=""/>
        <p:cNvGrpSpPr/>
        <p:nvPr/>
      </p:nvGrpSpPr>
      <p:grpSpPr/>
      <p:pic>
        <p:nvPicPr>
          <p:cNvPr id="2" name="insight-diagrama"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3" name="insight-isotipo" descr="image.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36300" y="476250"/>
            <a:ext cx="317500" cy="272161"/>
          </a:xfrm>
          <a:prstGeom prst="rect">
            <a:avLst/>
          </a:prstGeom>
        </p:spPr>
      </p:pic>
      <p:sp>
        <p:nvSpPr>
          <p:cNvPr id="4" name="EL INSIGHT"/>
          <p:cNvSpPr txBox="1"/>
          <p:nvPr/>
        </p:nvSpPr>
        <p:spPr>
          <a:xfrm>
            <a:off x="838200" y="560387"/>
            <a:ext cx="10515600"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FFFFF3"/>
                </a:solidFill>
                <a:latin typeface="Bahnschrift"/>
              </a:rPr>
              <a:t>EL INSIGHT</a:t>
            </a:r>
          </a:p>
        </p:txBody>
      </p:sp>
      <p:sp>
        <p:nvSpPr>
          <p:cNvPr id="5" name="Dos capas de visibilidad."/>
          <p:cNvSpPr txBox="1"/>
          <p:nvPr/>
        </p:nvSpPr>
        <p:spPr>
          <a:xfrm>
            <a:off x="838200" y="1062990"/>
            <a:ext cx="10515600" cy="647700"/>
          </a:xfrm>
          <a:prstGeom prst="rect">
            <a:avLst/>
          </a:prstGeom>
          <a:noFill/>
        </p:spPr>
        <p:txBody>
          <a:bodyPr wrap="none" lIns="0" rIns="0" tIns="0" bIns="0" anchor="t">
            <a:noAutofit/>
          </a:bodyPr>
          <a:lstStyle/>
          <a:p>
            <a:pPr>
              <a:lnSpc>
                <a:spcPct val="100000"/>
              </a:lnSpc>
              <a:spcBef>
                <a:spcPts val="0"/>
              </a:spcBef>
              <a:spcAft>
                <a:spcPts val="0"/>
              </a:spcAft>
            </a:pPr>
            <a:r>
              <a:rPr sz="3400" b="0" lang="es-ES">
                <a:solidFill>
                  <a:srgbClr val="FFFFF3"/>
                </a:solidFill>
                <a:latin typeface="Bahnschrift"/>
              </a:rPr>
              <a:t>Dos capas de visibilidad.</a:t>
            </a:r>
          </a:p>
        </p:txBody>
      </p:sp>
      <p:sp>
        <p:nvSpPr>
          <p:cNvPr id="6" name="LA CAPA"/>
          <p:cNvSpPr txBox="1"/>
          <p:nvPr/>
        </p:nvSpPr>
        <p:spPr>
          <a:xfrm>
            <a:off x="2106184" y="1963737"/>
            <a:ext cx="2984500"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E0EFDA"/>
                </a:solidFill>
                <a:latin typeface="Bahnschrift"/>
              </a:rPr>
              <a:t>LA CAPA</a:t>
            </a:r>
          </a:p>
        </p:txBody>
      </p:sp>
      <p:sp>
        <p:nvSpPr>
          <p:cNvPr id="7" name="QUÉ PERMITE"/>
          <p:cNvSpPr txBox="1"/>
          <p:nvPr/>
        </p:nvSpPr>
        <p:spPr>
          <a:xfrm>
            <a:off x="5605099" y="1963737"/>
            <a:ext cx="2984500"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E0EFDA"/>
                </a:solidFill>
                <a:latin typeface="Bahnschrift"/>
              </a:rPr>
              <a:t>QUÉ PERMITE</a:t>
            </a:r>
          </a:p>
        </p:txBody>
      </p:sp>
      <p:sp>
        <p:nvSpPr>
          <p:cNvPr id="8" name="POR QUÉ IMPORTA"/>
          <p:cNvSpPr txBox="1"/>
          <p:nvPr/>
        </p:nvSpPr>
        <p:spPr>
          <a:xfrm>
            <a:off x="9093937" y="1963737"/>
            <a:ext cx="2259862"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E0EFDA"/>
                </a:solidFill>
                <a:latin typeface="Bahnschrift"/>
              </a:rPr>
              <a:t>POR QUÉ IMPORTA</a:t>
            </a:r>
          </a:p>
        </p:txBody>
      </p:sp>
      <p:sp>
        <p:nvSpPr>
          <p:cNvPr id="9" name="Contenido"/>
          <p:cNvSpPr txBox="1"/>
          <p:nvPr/>
        </p:nvSpPr>
        <p:spPr>
          <a:xfrm>
            <a:off x="1856990" y="3486150"/>
            <a:ext cx="29845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Contenido</a:t>
            </a:r>
          </a:p>
        </p:txBody>
      </p:sp>
      <p:sp>
        <p:nvSpPr>
          <p:cNvPr id="10" name="Responder a"/>
          <p:cNvSpPr txBox="1"/>
          <p:nvPr/>
        </p:nvSpPr>
        <p:spPr>
          <a:xfrm>
            <a:off x="5377594" y="3321050"/>
            <a:ext cx="29845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Responder a</a:t>
            </a:r>
          </a:p>
        </p:txBody>
      </p:sp>
      <p:sp>
        <p:nvSpPr>
          <p:cNvPr id="11" name="lo que buscan"/>
          <p:cNvSpPr txBox="1"/>
          <p:nvPr/>
        </p:nvSpPr>
        <p:spPr>
          <a:xfrm>
            <a:off x="5307272" y="3657600"/>
            <a:ext cx="29845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lo que buscan</a:t>
            </a:r>
          </a:p>
        </p:txBody>
      </p:sp>
      <p:sp>
        <p:nvSpPr>
          <p:cNvPr id="12" name="Ser relevante"/>
          <p:cNvSpPr txBox="1"/>
          <p:nvPr/>
        </p:nvSpPr>
        <p:spPr>
          <a:xfrm>
            <a:off x="8993013" y="3486150"/>
            <a:ext cx="2360786"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Ser relevante</a:t>
            </a:r>
          </a:p>
        </p:txBody>
      </p:sp>
      <p:sp>
        <p:nvSpPr>
          <p:cNvPr id="13" name="Base técnica"/>
          <p:cNvSpPr txBox="1"/>
          <p:nvPr/>
        </p:nvSpPr>
        <p:spPr>
          <a:xfrm>
            <a:off x="1701651" y="5530850"/>
            <a:ext cx="29845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Base técnica</a:t>
            </a:r>
          </a:p>
        </p:txBody>
      </p:sp>
      <p:sp>
        <p:nvSpPr>
          <p:cNvPr id="14" name="Rastrear y entender"/>
          <p:cNvSpPr txBox="1"/>
          <p:nvPr/>
        </p:nvSpPr>
        <p:spPr>
          <a:xfrm>
            <a:off x="4954488" y="5365750"/>
            <a:ext cx="29845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Rastrear y entender</a:t>
            </a:r>
          </a:p>
        </p:txBody>
      </p:sp>
      <p:sp>
        <p:nvSpPr>
          <p:cNvPr id="15" name="la web"/>
          <p:cNvSpPr txBox="1"/>
          <p:nvPr/>
        </p:nvSpPr>
        <p:spPr>
          <a:xfrm>
            <a:off x="5722131" y="5702300"/>
            <a:ext cx="29845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la web</a:t>
            </a:r>
          </a:p>
        </p:txBody>
      </p:sp>
      <p:sp>
        <p:nvSpPr>
          <p:cNvPr id="16" name="Ser encontrado"/>
          <p:cNvSpPr txBox="1"/>
          <p:nvPr/>
        </p:nvSpPr>
        <p:spPr>
          <a:xfrm>
            <a:off x="8888400" y="5530850"/>
            <a:ext cx="2465399"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Ser encontrado</a:t>
            </a:r>
          </a:p>
        </p:txBody>
      </p:sp>
      <p:sp>
        <p:nvSpPr>
          <p:cNvPr id="17" name="03 / 08"/>
          <p:cNvSpPr txBox="1"/>
          <p:nvPr/>
        </p:nvSpPr>
        <p:spPr>
          <a:xfrm>
            <a:off x="10845800" y="6369050"/>
            <a:ext cx="508000" cy="190500"/>
          </a:xfrm>
          <a:prstGeom prst="rect">
            <a:avLst/>
          </a:prstGeom>
          <a:noFill/>
        </p:spPr>
        <p:txBody>
          <a:bodyPr wrap="none" lIns="0" rIns="0" tIns="0" bIns="0" anchor="t">
            <a:noAutofit/>
          </a:bodyPr>
          <a:lstStyle/>
          <a:p>
            <a:pPr>
              <a:lnSpc>
                <a:spcPct val="100000"/>
              </a:lnSpc>
              <a:spcBef>
                <a:spcPts val="0"/>
              </a:spcBef>
              <a:spcAft>
                <a:spcPts val="0"/>
              </a:spcAft>
            </a:pPr>
            <a:r>
              <a:rPr sz="1000" b="0" lang="es-ES">
                <a:solidFill>
                  <a:srgbClr val="E0EFDA"/>
                </a:solidFill>
                <a:latin typeface="Bahnschrift"/>
              </a:rPr>
              <a:t>03 / 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3"/>
        </a:solidFill>
        <a:effectLst/>
      </p:bgPr>
    </p:bg>
    <p:spTree>
      <p:nvGrpSpPr>
        <p:cNvPr id="1" name=""/>
        <p:cNvGrpSpPr/>
        <p:nvPr/>
      </p:nvGrpSpPr>
      <p:grpSpPr/>
      <p:pic>
        <p:nvPicPr>
          <p:cNvPr id="2" name="solucion-diagrama"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3" name="solucion-logo-central" descr="image.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84750" y="2109133"/>
            <a:ext cx="2222500" cy="493432"/>
          </a:xfrm>
          <a:prstGeom prst="rect">
            <a:avLst/>
          </a:prstGeom>
        </p:spPr>
      </p:pic>
      <p:pic>
        <p:nvPicPr>
          <p:cNvPr id="4" name="solucion-isotipo" descr="image.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36300" y="476250"/>
            <a:ext cx="317500" cy="272161"/>
          </a:xfrm>
          <a:prstGeom prst="rect">
            <a:avLst/>
          </a:prstGeom>
        </p:spPr>
      </p:pic>
      <p:sp>
        <p:nvSpPr>
          <p:cNvPr id="5" name="LA SOLUCIÓN"/>
          <p:cNvSpPr txBox="1"/>
          <p:nvPr/>
        </p:nvSpPr>
        <p:spPr>
          <a:xfrm>
            <a:off x="838200" y="560387"/>
            <a:ext cx="10515600"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2B4F42"/>
                </a:solidFill>
                <a:latin typeface="Bahnschrift"/>
              </a:rPr>
              <a:t>LA SOLUCIÓN</a:t>
            </a:r>
          </a:p>
        </p:txBody>
      </p:sp>
      <p:sp>
        <p:nvSpPr>
          <p:cNvPr id="6" name="Del diagnóstico a la acción."/>
          <p:cNvSpPr txBox="1"/>
          <p:nvPr/>
        </p:nvSpPr>
        <p:spPr>
          <a:xfrm>
            <a:off x="838200" y="1062990"/>
            <a:ext cx="10515600" cy="647700"/>
          </a:xfrm>
          <a:prstGeom prst="rect">
            <a:avLst/>
          </a:prstGeom>
          <a:noFill/>
        </p:spPr>
        <p:txBody>
          <a:bodyPr wrap="none" lIns="0" rIns="0" tIns="0" bIns="0" anchor="t">
            <a:noAutofit/>
          </a:bodyPr>
          <a:lstStyle/>
          <a:p>
            <a:pPr>
              <a:lnSpc>
                <a:spcPct val="100000"/>
              </a:lnSpc>
              <a:spcBef>
                <a:spcPts val="0"/>
              </a:spcBef>
              <a:spcAft>
                <a:spcPts val="0"/>
              </a:spcAft>
            </a:pPr>
            <a:r>
              <a:rPr sz="3400" b="0" lang="es-ES">
                <a:solidFill>
                  <a:srgbClr val="2E282A"/>
                </a:solidFill>
                <a:latin typeface="Bahnschrift"/>
              </a:rPr>
              <a:t>Del diagnóstico a la acción.</a:t>
            </a:r>
          </a:p>
        </p:txBody>
      </p:sp>
      <p:sp>
        <p:nvSpPr>
          <p:cNvPr id="7" name="Visibilidad de marca"/>
          <p:cNvSpPr txBox="1"/>
          <p:nvPr/>
        </p:nvSpPr>
        <p:spPr>
          <a:xfrm>
            <a:off x="838200" y="2997200"/>
            <a:ext cx="42418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2B4F42"/>
                </a:solidFill>
                <a:latin typeface="Bahnschrift"/>
              </a:rPr>
              <a:t>Visibilidad de marca</a:t>
            </a:r>
          </a:p>
        </p:txBody>
      </p:sp>
      <p:sp>
        <p:nvSpPr>
          <p:cNvPr id="8" name="Remediación SEO/GEO"/>
          <p:cNvSpPr txBox="1"/>
          <p:nvPr/>
        </p:nvSpPr>
        <p:spPr>
          <a:xfrm>
            <a:off x="7112000" y="2997200"/>
            <a:ext cx="42418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2B4F42"/>
                </a:solidFill>
                <a:latin typeface="Bahnschrift"/>
              </a:rPr>
              <a:t>Remediación SEO/GEO</a:t>
            </a:r>
          </a:p>
        </p:txBody>
      </p:sp>
      <p:sp>
        <p:nvSpPr>
          <p:cNvPr id="9" name="Sube tu brief"/>
          <p:cNvSpPr txBox="1"/>
          <p:nvPr/>
        </p:nvSpPr>
        <p:spPr>
          <a:xfrm>
            <a:off x="1104900" y="3405504"/>
            <a:ext cx="3975100" cy="247649"/>
          </a:xfrm>
          <a:prstGeom prst="rect">
            <a:avLst/>
          </a:prstGeom>
          <a:noFill/>
        </p:spPr>
        <p:txBody>
          <a:bodyPr wrap="none" lIns="0" rIns="0" tIns="0" bIns="0" anchor="t">
            <a:noAutofit/>
          </a:bodyPr>
          <a:lstStyle/>
          <a:p>
            <a:pPr>
              <a:lnSpc>
                <a:spcPct val="100000"/>
              </a:lnSpc>
              <a:spcBef>
                <a:spcPts val="0"/>
              </a:spcBef>
              <a:spcAft>
                <a:spcPts val="0"/>
              </a:spcAft>
            </a:pPr>
            <a:r>
              <a:rPr sz="1300" b="0" lang="es-ES">
                <a:solidFill>
                  <a:srgbClr val="2E282A"/>
                </a:solidFill>
                <a:latin typeface="Bahnschrift"/>
              </a:rPr>
              <a:t>Sube tu brief</a:t>
            </a:r>
          </a:p>
        </p:txBody>
      </p:sp>
      <p:sp>
        <p:nvSpPr>
          <p:cNvPr id="10" name="Conecta tu repositorio"/>
          <p:cNvSpPr txBox="1"/>
          <p:nvPr/>
        </p:nvSpPr>
        <p:spPr>
          <a:xfrm>
            <a:off x="7378700" y="3405504"/>
            <a:ext cx="3975100" cy="247649"/>
          </a:xfrm>
          <a:prstGeom prst="rect">
            <a:avLst/>
          </a:prstGeom>
          <a:noFill/>
        </p:spPr>
        <p:txBody>
          <a:bodyPr wrap="none" lIns="0" rIns="0" tIns="0" bIns="0" anchor="t">
            <a:noAutofit/>
          </a:bodyPr>
          <a:lstStyle/>
          <a:p>
            <a:pPr>
              <a:lnSpc>
                <a:spcPct val="100000"/>
              </a:lnSpc>
              <a:spcBef>
                <a:spcPts val="0"/>
              </a:spcBef>
              <a:spcAft>
                <a:spcPts val="0"/>
              </a:spcAft>
            </a:pPr>
            <a:r>
              <a:rPr sz="1300" b="0" lang="es-ES">
                <a:solidFill>
                  <a:srgbClr val="2E282A"/>
                </a:solidFill>
                <a:latin typeface="Bahnschrift"/>
              </a:rPr>
              <a:t>Conecta tu repositorio</a:t>
            </a:r>
          </a:p>
        </p:txBody>
      </p:sp>
      <p:sp>
        <p:nvSpPr>
          <p:cNvPr id="11" name="Informe de visibilidad"/>
          <p:cNvSpPr txBox="1"/>
          <p:nvPr/>
        </p:nvSpPr>
        <p:spPr>
          <a:xfrm>
            <a:off x="838200" y="3804920"/>
            <a:ext cx="42418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2B4F42"/>
                </a:solidFill>
                <a:latin typeface="Bahnschrift"/>
              </a:rPr>
              <a:t>Informe de visibilidad</a:t>
            </a:r>
          </a:p>
        </p:txBody>
      </p:sp>
      <p:sp>
        <p:nvSpPr>
          <p:cNvPr id="12" name="Tu marca"/>
          <p:cNvSpPr txBox="1"/>
          <p:nvPr/>
        </p:nvSpPr>
        <p:spPr>
          <a:xfrm>
            <a:off x="838200" y="4180522"/>
            <a:ext cx="1111250" cy="257175"/>
          </a:xfrm>
          <a:prstGeom prst="rect">
            <a:avLst/>
          </a:prstGeom>
          <a:noFill/>
        </p:spPr>
        <p:txBody>
          <a:bodyPr wrap="none" lIns="0" rIns="0" tIns="0" bIns="0" anchor="t">
            <a:noAutofit/>
          </a:bodyPr>
          <a:lstStyle/>
          <a:p>
            <a:pPr>
              <a:lnSpc>
                <a:spcPct val="100000"/>
              </a:lnSpc>
              <a:spcBef>
                <a:spcPts val="0"/>
              </a:spcBef>
              <a:spcAft>
                <a:spcPts val="0"/>
              </a:spcAft>
            </a:pPr>
            <a:r>
              <a:rPr sz="1350" b="0" lang="es-ES">
                <a:solidFill>
                  <a:srgbClr val="2E282A"/>
                </a:solidFill>
                <a:latin typeface="Bahnschrift"/>
              </a:rPr>
              <a:t>Tu marca</a:t>
            </a:r>
          </a:p>
        </p:txBody>
      </p:sp>
      <p:sp>
        <p:nvSpPr>
          <p:cNvPr id="13" name="Competencia"/>
          <p:cNvSpPr txBox="1"/>
          <p:nvPr/>
        </p:nvSpPr>
        <p:spPr>
          <a:xfrm>
            <a:off x="838200" y="4536122"/>
            <a:ext cx="1111250" cy="257175"/>
          </a:xfrm>
          <a:prstGeom prst="rect">
            <a:avLst/>
          </a:prstGeom>
          <a:noFill/>
        </p:spPr>
        <p:txBody>
          <a:bodyPr wrap="none" lIns="0" rIns="0" tIns="0" bIns="0" anchor="t">
            <a:noAutofit/>
          </a:bodyPr>
          <a:lstStyle/>
          <a:p>
            <a:pPr>
              <a:lnSpc>
                <a:spcPct val="100000"/>
              </a:lnSpc>
              <a:spcBef>
                <a:spcPts val="0"/>
              </a:spcBef>
              <a:spcAft>
                <a:spcPts val="0"/>
              </a:spcAft>
            </a:pPr>
            <a:r>
              <a:rPr sz="1350" b="0" lang="es-ES">
                <a:solidFill>
                  <a:srgbClr val="2E282A"/>
                </a:solidFill>
                <a:latin typeface="Bahnschrift"/>
              </a:rPr>
              <a:t>Competencia</a:t>
            </a:r>
          </a:p>
        </p:txBody>
      </p:sp>
      <p:sp>
        <p:nvSpPr>
          <p:cNvPr id="14" name="Respuestas"/>
          <p:cNvSpPr txBox="1"/>
          <p:nvPr/>
        </p:nvSpPr>
        <p:spPr>
          <a:xfrm>
            <a:off x="1104900" y="5113020"/>
            <a:ext cx="1016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2B4F42"/>
                </a:solidFill>
                <a:latin typeface="Bahnschrift"/>
              </a:rPr>
              <a:t>Respuestas</a:t>
            </a:r>
          </a:p>
        </p:txBody>
      </p:sp>
      <p:sp>
        <p:nvSpPr>
          <p:cNvPr id="15" name="Fuentes"/>
          <p:cNvSpPr txBox="1"/>
          <p:nvPr/>
        </p:nvSpPr>
        <p:spPr>
          <a:xfrm>
            <a:off x="2565400" y="5113020"/>
            <a:ext cx="9271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2B4F42"/>
                </a:solidFill>
                <a:latin typeface="Bahnschrift"/>
              </a:rPr>
              <a:t>Fuentes</a:t>
            </a:r>
          </a:p>
        </p:txBody>
      </p:sp>
      <p:sp>
        <p:nvSpPr>
          <p:cNvPr id="16" name="Evidencias"/>
          <p:cNvSpPr txBox="1"/>
          <p:nvPr/>
        </p:nvSpPr>
        <p:spPr>
          <a:xfrm>
            <a:off x="3924300" y="5113020"/>
            <a:ext cx="10795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2B4F42"/>
                </a:solidFill>
                <a:latin typeface="Bahnschrift"/>
              </a:rPr>
              <a:t>Evidencias</a:t>
            </a:r>
          </a:p>
        </p:txBody>
      </p:sp>
      <p:sp>
        <p:nvSpPr>
          <p:cNvPr id="17" name="Correcciones propuestas"/>
          <p:cNvSpPr txBox="1"/>
          <p:nvPr/>
        </p:nvSpPr>
        <p:spPr>
          <a:xfrm>
            <a:off x="7112000" y="3804920"/>
            <a:ext cx="42418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2B4F42"/>
                </a:solidFill>
                <a:latin typeface="Bahnschrift"/>
              </a:rPr>
              <a:t>Correcciones propuestas</a:t>
            </a:r>
          </a:p>
        </p:txBody>
      </p:sp>
      <p:sp>
        <p:nvSpPr>
          <p:cNvPr id="18" name="index.html"/>
          <p:cNvSpPr txBox="1"/>
          <p:nvPr/>
        </p:nvSpPr>
        <p:spPr>
          <a:xfrm>
            <a:off x="7112000" y="4083367"/>
            <a:ext cx="4241800" cy="200025"/>
          </a:xfrm>
          <a:prstGeom prst="rect">
            <a:avLst/>
          </a:prstGeom>
          <a:noFill/>
        </p:spPr>
        <p:txBody>
          <a:bodyPr wrap="none" lIns="0" rIns="0" tIns="0" bIns="0" anchor="t">
            <a:noAutofit/>
          </a:bodyPr>
          <a:lstStyle/>
          <a:p>
            <a:pPr>
              <a:lnSpc>
                <a:spcPct val="100000"/>
              </a:lnSpc>
              <a:spcBef>
                <a:spcPts val="0"/>
              </a:spcBef>
              <a:spcAft>
                <a:spcPts val="0"/>
              </a:spcAft>
            </a:pPr>
            <a:r>
              <a:rPr sz="1050" b="0" lang="es-ES">
                <a:solidFill>
                  <a:srgbClr val="2B4F42"/>
                </a:solidFill>
                <a:latin typeface="Bahnschrift"/>
              </a:rPr>
              <a:t>index.html</a:t>
            </a:r>
          </a:p>
        </p:txBody>
      </p:sp>
      <p:sp>
        <p:nvSpPr>
          <p:cNvPr id="19" name="&lt;title&gt;Inicio&lt;/title&gt;"/>
          <p:cNvSpPr txBox="1"/>
          <p:nvPr/>
        </p:nvSpPr>
        <p:spPr>
          <a:xfrm>
            <a:off x="7454900" y="4427855"/>
            <a:ext cx="3898900" cy="247649"/>
          </a:xfrm>
          <a:prstGeom prst="rect">
            <a:avLst/>
          </a:prstGeom>
          <a:noFill/>
        </p:spPr>
        <p:txBody>
          <a:bodyPr wrap="none" lIns="0" rIns="0" tIns="0" bIns="0" anchor="t">
            <a:noAutofit/>
          </a:bodyPr>
          <a:lstStyle/>
          <a:p>
            <a:pPr>
              <a:lnSpc>
                <a:spcPct val="100000"/>
              </a:lnSpc>
              <a:spcBef>
                <a:spcPts val="0"/>
              </a:spcBef>
              <a:spcAft>
                <a:spcPts val="0"/>
              </a:spcAft>
            </a:pPr>
            <a:r>
              <a:rPr sz="1300" b="0" lang="es-ES">
                <a:solidFill>
                  <a:srgbClr val="2B4F42"/>
                </a:solidFill>
                <a:latin typeface="Consolas"/>
              </a:rPr>
              <a:t>&lt;title&gt;</a:t>
            </a:r>
            <a:r>
              <a:rPr sz="1300" b="0" lang="es-ES">
                <a:solidFill>
                  <a:srgbClr val="2E282A"/>
                </a:solidFill>
                <a:latin typeface="Consolas"/>
              </a:rPr>
              <a:t>Inicio</a:t>
            </a:r>
            <a:r>
              <a:rPr sz="1300" b="0" lang="es-ES">
                <a:solidFill>
                  <a:srgbClr val="2B4F42"/>
                </a:solidFill>
                <a:latin typeface="Consolas"/>
              </a:rPr>
              <a:t>&lt;/title&gt;</a:t>
            </a:r>
          </a:p>
        </p:txBody>
      </p:sp>
      <p:sp>
        <p:nvSpPr>
          <p:cNvPr id="20" name="&lt;title&gt;Software para pymes&lt;/title&gt;"/>
          <p:cNvSpPr txBox="1"/>
          <p:nvPr/>
        </p:nvSpPr>
        <p:spPr>
          <a:xfrm>
            <a:off x="7454900" y="4770755"/>
            <a:ext cx="3898900" cy="247649"/>
          </a:xfrm>
          <a:prstGeom prst="rect">
            <a:avLst/>
          </a:prstGeom>
          <a:noFill/>
        </p:spPr>
        <p:txBody>
          <a:bodyPr wrap="none" lIns="0" rIns="0" tIns="0" bIns="0" anchor="t">
            <a:noAutofit/>
          </a:bodyPr>
          <a:lstStyle/>
          <a:p>
            <a:pPr>
              <a:lnSpc>
                <a:spcPct val="100000"/>
              </a:lnSpc>
              <a:spcBef>
                <a:spcPts val="0"/>
              </a:spcBef>
              <a:spcAft>
                <a:spcPts val="0"/>
              </a:spcAft>
            </a:pPr>
            <a:r>
              <a:rPr sz="1300" b="0" lang="es-ES">
                <a:solidFill>
                  <a:srgbClr val="2B4F42"/>
                </a:solidFill>
                <a:latin typeface="Consolas"/>
              </a:rPr>
              <a:t>&lt;title&gt;</a:t>
            </a:r>
            <a:r>
              <a:rPr sz="1300" b="0" lang="es-ES">
                <a:solidFill>
                  <a:srgbClr val="2E282A"/>
                </a:solidFill>
                <a:latin typeface="Consolas"/>
              </a:rPr>
              <a:t>Software para pymes</a:t>
            </a:r>
            <a:r>
              <a:rPr sz="1300" b="0" lang="es-ES">
                <a:solidFill>
                  <a:srgbClr val="2B4F42"/>
                </a:solidFill>
                <a:latin typeface="Consolas"/>
              </a:rPr>
              <a:t>&lt;/title&gt;</a:t>
            </a:r>
          </a:p>
        </p:txBody>
      </p:sp>
      <p:sp>
        <p:nvSpPr>
          <p:cNvPr id="21" name="Comprobaciones superadas"/>
          <p:cNvSpPr txBox="1"/>
          <p:nvPr/>
        </p:nvSpPr>
        <p:spPr>
          <a:xfrm>
            <a:off x="7378700" y="5100954"/>
            <a:ext cx="3975100" cy="247649"/>
          </a:xfrm>
          <a:prstGeom prst="rect">
            <a:avLst/>
          </a:prstGeom>
          <a:noFill/>
        </p:spPr>
        <p:txBody>
          <a:bodyPr wrap="none" lIns="0" rIns="0" tIns="0" bIns="0" anchor="t">
            <a:noAutofit/>
          </a:bodyPr>
          <a:lstStyle/>
          <a:p>
            <a:pPr>
              <a:lnSpc>
                <a:spcPct val="100000"/>
              </a:lnSpc>
              <a:spcBef>
                <a:spcPts val="0"/>
              </a:spcBef>
              <a:spcAft>
                <a:spcPts val="0"/>
              </a:spcAft>
            </a:pPr>
            <a:r>
              <a:rPr sz="1300" b="0" lang="es-ES">
                <a:solidFill>
                  <a:srgbClr val="2B4F42"/>
                </a:solidFill>
                <a:latin typeface="Bahnschrift"/>
              </a:rPr>
              <a:t>Comprobaciones superadas</a:t>
            </a:r>
          </a:p>
        </p:txBody>
      </p:sp>
      <p:sp>
        <p:nvSpPr>
          <p:cNvPr id="22" name="Informe y plan de acción"/>
          <p:cNvSpPr txBox="1"/>
          <p:nvPr/>
        </p:nvSpPr>
        <p:spPr>
          <a:xfrm>
            <a:off x="1117600" y="5712460"/>
            <a:ext cx="3962399" cy="304800"/>
          </a:xfrm>
          <a:prstGeom prst="rect">
            <a:avLst/>
          </a:prstGeom>
          <a:noFill/>
        </p:spPr>
        <p:txBody>
          <a:bodyPr wrap="none" lIns="0" rIns="0" tIns="0" bIns="0" anchor="t">
            <a:noAutofit/>
          </a:bodyPr>
          <a:lstStyle/>
          <a:p>
            <a:pPr>
              <a:lnSpc>
                <a:spcPct val="100000"/>
              </a:lnSpc>
              <a:spcBef>
                <a:spcPts val="0"/>
              </a:spcBef>
              <a:spcAft>
                <a:spcPts val="0"/>
              </a:spcAft>
            </a:pPr>
            <a:r>
              <a:rPr sz="1600" b="0" lang="es-ES">
                <a:solidFill>
                  <a:srgbClr val="2E282A"/>
                </a:solidFill>
                <a:latin typeface="Bahnschrift"/>
              </a:rPr>
              <a:t>Informe y plan de acción</a:t>
            </a:r>
          </a:p>
        </p:txBody>
      </p:sp>
      <p:sp>
        <p:nvSpPr>
          <p:cNvPr id="23" name="Issues y pull requests"/>
          <p:cNvSpPr txBox="1"/>
          <p:nvPr/>
        </p:nvSpPr>
        <p:spPr>
          <a:xfrm>
            <a:off x="7391400" y="5712460"/>
            <a:ext cx="3962399" cy="304800"/>
          </a:xfrm>
          <a:prstGeom prst="rect">
            <a:avLst/>
          </a:prstGeom>
          <a:noFill/>
        </p:spPr>
        <p:txBody>
          <a:bodyPr wrap="none" lIns="0" rIns="0" tIns="0" bIns="0" anchor="t">
            <a:noAutofit/>
          </a:bodyPr>
          <a:lstStyle/>
          <a:p>
            <a:pPr>
              <a:lnSpc>
                <a:spcPct val="100000"/>
              </a:lnSpc>
              <a:spcBef>
                <a:spcPts val="0"/>
              </a:spcBef>
              <a:spcAft>
                <a:spcPts val="0"/>
              </a:spcAft>
            </a:pPr>
            <a:r>
              <a:rPr sz="1600" b="0" lang="es-ES">
                <a:solidFill>
                  <a:srgbClr val="2E282A"/>
                </a:solidFill>
                <a:latin typeface="Bahnschrift"/>
              </a:rPr>
              <a:t>Issues y pull requests</a:t>
            </a:r>
          </a:p>
        </p:txBody>
      </p:sp>
      <p:sp>
        <p:nvSpPr>
          <p:cNvPr id="24" name="04 / 08"/>
          <p:cNvSpPr txBox="1"/>
          <p:nvPr/>
        </p:nvSpPr>
        <p:spPr>
          <a:xfrm>
            <a:off x="10845800" y="6369050"/>
            <a:ext cx="508000" cy="190500"/>
          </a:xfrm>
          <a:prstGeom prst="rect">
            <a:avLst/>
          </a:prstGeom>
          <a:noFill/>
        </p:spPr>
        <p:txBody>
          <a:bodyPr wrap="none" lIns="0" rIns="0" tIns="0" bIns="0" anchor="t">
            <a:noAutofit/>
          </a:bodyPr>
          <a:lstStyle/>
          <a:p>
            <a:pPr>
              <a:lnSpc>
                <a:spcPct val="100000"/>
              </a:lnSpc>
              <a:spcBef>
                <a:spcPts val="0"/>
              </a:spcBef>
              <a:spcAft>
                <a:spcPts val="0"/>
              </a:spcAft>
            </a:pPr>
            <a:r>
              <a:rPr sz="1000" b="0" lang="es-ES">
                <a:solidFill>
                  <a:srgbClr val="2B4F42"/>
                </a:solidFill>
                <a:latin typeface="Bahnschrift"/>
              </a:rPr>
              <a:t>04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282A"/>
        </a:solidFill>
        <a:effectLst/>
      </p:bgPr>
    </p:bg>
    <p:spTree>
      <p:nvGrpSpPr>
        <p:cNvPr id="1" name=""/>
        <p:cNvGrpSpPr/>
        <p:nvPr/>
      </p:nvGrpSpPr>
      <p:grpSpPr/>
      <p:pic>
        <p:nvPicPr>
          <p:cNvPr id="2" name="agentes-diagrama"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3" name="agentes-isotipo" descr="image.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36300" y="476250"/>
            <a:ext cx="317500" cy="272161"/>
          </a:xfrm>
          <a:prstGeom prst="rect">
            <a:avLst/>
          </a:prstGeom>
        </p:spPr>
      </p:pic>
      <p:sp>
        <p:nvSpPr>
          <p:cNvPr id="4" name="CÓMO FUNCIONA"/>
          <p:cNvSpPr txBox="1"/>
          <p:nvPr/>
        </p:nvSpPr>
        <p:spPr>
          <a:xfrm>
            <a:off x="838200" y="560387"/>
            <a:ext cx="10515600"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FFFFF3"/>
                </a:solidFill>
                <a:latin typeface="Bahnschrift"/>
              </a:rPr>
              <a:t>CÓMO FUNCIONA</a:t>
            </a:r>
          </a:p>
        </p:txBody>
      </p:sp>
      <p:sp>
        <p:nvSpPr>
          <p:cNvPr id="5" name="Agentes con herramientas."/>
          <p:cNvSpPr txBox="1"/>
          <p:nvPr/>
        </p:nvSpPr>
        <p:spPr>
          <a:xfrm>
            <a:off x="838200" y="1062990"/>
            <a:ext cx="10515600" cy="647700"/>
          </a:xfrm>
          <a:prstGeom prst="rect">
            <a:avLst/>
          </a:prstGeom>
          <a:noFill/>
        </p:spPr>
        <p:txBody>
          <a:bodyPr wrap="none" lIns="0" rIns="0" tIns="0" bIns="0" anchor="t">
            <a:noAutofit/>
          </a:bodyPr>
          <a:lstStyle/>
          <a:p>
            <a:pPr>
              <a:lnSpc>
                <a:spcPct val="100000"/>
              </a:lnSpc>
              <a:spcBef>
                <a:spcPts val="0"/>
              </a:spcBef>
              <a:spcAft>
                <a:spcPts val="0"/>
              </a:spcAft>
            </a:pPr>
            <a:r>
              <a:rPr sz="3400" b="0" lang="es-ES">
                <a:solidFill>
                  <a:srgbClr val="FFFFF3"/>
                </a:solidFill>
                <a:latin typeface="Bahnschrift"/>
              </a:rPr>
              <a:t>Agentes con herramientas.</a:t>
            </a:r>
          </a:p>
        </p:txBody>
      </p:sp>
      <p:sp>
        <p:nvSpPr>
          <p:cNvPr id="6" name="Google Gemini"/>
          <p:cNvSpPr txBox="1"/>
          <p:nvPr/>
        </p:nvSpPr>
        <p:spPr>
          <a:xfrm>
            <a:off x="838200" y="1685290"/>
            <a:ext cx="10515600" cy="266700"/>
          </a:xfrm>
          <a:prstGeom prst="rect">
            <a:avLst/>
          </a:prstGeom>
          <a:noFill/>
        </p:spPr>
        <p:txBody>
          <a:bodyPr wrap="none" lIns="0" rIns="0" tIns="0" bIns="0" anchor="t">
            <a:noAutofit/>
          </a:bodyPr>
          <a:lstStyle/>
          <a:p>
            <a:pPr>
              <a:lnSpc>
                <a:spcPct val="100000"/>
              </a:lnSpc>
              <a:spcBef>
                <a:spcPts val="0"/>
              </a:spcBef>
              <a:spcAft>
                <a:spcPts val="0"/>
              </a:spcAft>
            </a:pPr>
            <a:r>
              <a:rPr sz="1400" b="0" lang="es-ES">
                <a:solidFill>
                  <a:srgbClr val="E0EFDA"/>
                </a:solidFill>
                <a:latin typeface="Bahnschrift"/>
              </a:rPr>
              <a:t>Google Gemini</a:t>
            </a:r>
          </a:p>
        </p:txBody>
      </p:sp>
      <p:sp>
        <p:nvSpPr>
          <p:cNvPr id="7" name="MARCA"/>
          <p:cNvSpPr txBox="1"/>
          <p:nvPr/>
        </p:nvSpPr>
        <p:spPr>
          <a:xfrm>
            <a:off x="838200" y="2712402"/>
            <a:ext cx="1206500" cy="219075"/>
          </a:xfrm>
          <a:prstGeom prst="rect">
            <a:avLst/>
          </a:prstGeom>
          <a:noFill/>
        </p:spPr>
        <p:txBody>
          <a:bodyPr wrap="none" lIns="0" rIns="0" tIns="0" bIns="0" anchor="t">
            <a:noAutofit/>
          </a:bodyPr>
          <a:lstStyle/>
          <a:p>
            <a:pPr>
              <a:lnSpc>
                <a:spcPct val="100000"/>
              </a:lnSpc>
              <a:spcBef>
                <a:spcPts val="0"/>
              </a:spcBef>
              <a:spcAft>
                <a:spcPts val="0"/>
              </a:spcAft>
            </a:pPr>
            <a:r>
              <a:rPr sz="1150" b="0" lang="es-ES">
                <a:solidFill>
                  <a:srgbClr val="E0EFDA"/>
                </a:solidFill>
                <a:latin typeface="Bahnschrift"/>
              </a:rPr>
              <a:t>MARCA</a:t>
            </a:r>
          </a:p>
        </p:txBody>
      </p:sp>
      <p:sp>
        <p:nvSpPr>
          <p:cNvPr id="8" name="REPOSITORIO"/>
          <p:cNvSpPr txBox="1"/>
          <p:nvPr/>
        </p:nvSpPr>
        <p:spPr>
          <a:xfrm>
            <a:off x="838200" y="4744402"/>
            <a:ext cx="1206500" cy="219075"/>
          </a:xfrm>
          <a:prstGeom prst="rect">
            <a:avLst/>
          </a:prstGeom>
          <a:noFill/>
        </p:spPr>
        <p:txBody>
          <a:bodyPr wrap="none" lIns="0" rIns="0" tIns="0" bIns="0" anchor="t">
            <a:noAutofit/>
          </a:bodyPr>
          <a:lstStyle/>
          <a:p>
            <a:pPr>
              <a:lnSpc>
                <a:spcPct val="100000"/>
              </a:lnSpc>
              <a:spcBef>
                <a:spcPts val="0"/>
              </a:spcBef>
              <a:spcAft>
                <a:spcPts val="0"/>
              </a:spcAft>
            </a:pPr>
            <a:r>
              <a:rPr sz="1150" b="0" lang="es-ES">
                <a:solidFill>
                  <a:srgbClr val="E0EFDA"/>
                </a:solidFill>
                <a:latin typeface="Bahnschrift"/>
              </a:rPr>
              <a:t>REPOSITORIO</a:t>
            </a:r>
          </a:p>
        </p:txBody>
      </p:sp>
      <p:sp>
        <p:nvSpPr>
          <p:cNvPr id="9" name="Si falla, corrige"/>
          <p:cNvSpPr txBox="1"/>
          <p:nvPr/>
        </p:nvSpPr>
        <p:spPr>
          <a:xfrm>
            <a:off x="6001078" y="4096385"/>
            <a:ext cx="1968500" cy="209550"/>
          </a:xfrm>
          <a:prstGeom prst="rect">
            <a:avLst/>
          </a:prstGeom>
          <a:noFill/>
        </p:spPr>
        <p:txBody>
          <a:bodyPr wrap="none" lIns="0" rIns="0" tIns="0" bIns="0" anchor="t">
            <a:noAutofit/>
          </a:bodyPr>
          <a:lstStyle/>
          <a:p>
            <a:pPr>
              <a:lnSpc>
                <a:spcPct val="100000"/>
              </a:lnSpc>
              <a:spcBef>
                <a:spcPts val="0"/>
              </a:spcBef>
              <a:spcAft>
                <a:spcPts val="0"/>
              </a:spcAft>
            </a:pPr>
            <a:r>
              <a:rPr sz="1100" b="0" lang="es-ES">
                <a:solidFill>
                  <a:srgbClr val="E0EFDA"/>
                </a:solidFill>
                <a:latin typeface="Bahnschrift"/>
              </a:rPr>
              <a:t>Si falla, corrige</a:t>
            </a:r>
          </a:p>
        </p:txBody>
      </p:sp>
      <p:sp>
        <p:nvSpPr>
          <p:cNvPr id="10" name="05 / 08"/>
          <p:cNvSpPr txBox="1"/>
          <p:nvPr/>
        </p:nvSpPr>
        <p:spPr>
          <a:xfrm>
            <a:off x="10845800" y="6369050"/>
            <a:ext cx="508000" cy="190500"/>
          </a:xfrm>
          <a:prstGeom prst="rect">
            <a:avLst/>
          </a:prstGeom>
          <a:noFill/>
        </p:spPr>
        <p:txBody>
          <a:bodyPr wrap="none" lIns="0" rIns="0" tIns="0" bIns="0" anchor="t">
            <a:noAutofit/>
          </a:bodyPr>
          <a:lstStyle/>
          <a:p>
            <a:pPr>
              <a:lnSpc>
                <a:spcPct val="100000"/>
              </a:lnSpc>
              <a:spcBef>
                <a:spcPts val="0"/>
              </a:spcBef>
              <a:spcAft>
                <a:spcPts val="0"/>
              </a:spcAft>
            </a:pPr>
            <a:r>
              <a:rPr sz="1000" b="0" lang="es-ES">
                <a:solidFill>
                  <a:srgbClr val="E0EFDA"/>
                </a:solidFill>
                <a:latin typeface="Bahnschrift"/>
              </a:rPr>
              <a:t>05 / 08</a:t>
            </a:r>
          </a:p>
        </p:txBody>
      </p:sp>
      <p:sp>
        <p:nvSpPr>
          <p:cNvPr id="11" name="Investiga"/>
          <p:cNvSpPr txBox="1"/>
          <p:nvPr/>
        </p:nvSpPr>
        <p:spPr>
          <a:xfrm>
            <a:off x="2344787" y="3238500"/>
            <a:ext cx="19050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Investiga</a:t>
            </a:r>
          </a:p>
        </p:txBody>
      </p:sp>
      <p:sp>
        <p:nvSpPr>
          <p:cNvPr id="12" name="Búsqueda web"/>
          <p:cNvSpPr txBox="1"/>
          <p:nvPr/>
        </p:nvSpPr>
        <p:spPr>
          <a:xfrm>
            <a:off x="2358776" y="3601720"/>
            <a:ext cx="190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Búsqueda web</a:t>
            </a:r>
          </a:p>
        </p:txBody>
      </p:sp>
      <p:sp>
        <p:nvSpPr>
          <p:cNvPr id="13" name="Mide"/>
          <p:cNvSpPr txBox="1"/>
          <p:nvPr/>
        </p:nvSpPr>
        <p:spPr>
          <a:xfrm>
            <a:off x="5003105" y="3238500"/>
            <a:ext cx="19050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Mide</a:t>
            </a:r>
          </a:p>
        </p:txBody>
      </p:sp>
      <p:sp>
        <p:nvSpPr>
          <p:cNvPr id="14" name="Pregunta y repite"/>
          <p:cNvSpPr txBox="1"/>
          <p:nvPr/>
        </p:nvSpPr>
        <p:spPr>
          <a:xfrm>
            <a:off x="4680880" y="3601720"/>
            <a:ext cx="190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Pregunta y repite</a:t>
            </a:r>
          </a:p>
        </p:txBody>
      </p:sp>
      <p:sp>
        <p:nvSpPr>
          <p:cNvPr id="15" name="Contrasta"/>
          <p:cNvSpPr txBox="1"/>
          <p:nvPr/>
        </p:nvSpPr>
        <p:spPr>
          <a:xfrm>
            <a:off x="7126696" y="3238500"/>
            <a:ext cx="19050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Contrasta</a:t>
            </a:r>
          </a:p>
        </p:txBody>
      </p:sp>
      <p:sp>
        <p:nvSpPr>
          <p:cNvPr id="16" name="Citas e identidad"/>
          <p:cNvSpPr txBox="1"/>
          <p:nvPr/>
        </p:nvSpPr>
        <p:spPr>
          <a:xfrm>
            <a:off x="7120222" y="3601720"/>
            <a:ext cx="190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Citas e identidad</a:t>
            </a:r>
          </a:p>
        </p:txBody>
      </p:sp>
      <p:sp>
        <p:nvSpPr>
          <p:cNvPr id="17" name="Prioriza"/>
          <p:cNvSpPr txBox="1"/>
          <p:nvPr/>
        </p:nvSpPr>
        <p:spPr>
          <a:xfrm>
            <a:off x="9645674" y="3238500"/>
            <a:ext cx="1708125"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Prioriza</a:t>
            </a:r>
          </a:p>
        </p:txBody>
      </p:sp>
      <p:sp>
        <p:nvSpPr>
          <p:cNvPr id="18" name="Acciones con evidencia"/>
          <p:cNvSpPr txBox="1"/>
          <p:nvPr/>
        </p:nvSpPr>
        <p:spPr>
          <a:xfrm>
            <a:off x="9304511" y="3601720"/>
            <a:ext cx="190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Acciones con evidencia</a:t>
            </a:r>
          </a:p>
        </p:txBody>
      </p:sp>
      <p:sp>
        <p:nvSpPr>
          <p:cNvPr id="19" name="Analiza"/>
          <p:cNvSpPr txBox="1"/>
          <p:nvPr/>
        </p:nvSpPr>
        <p:spPr>
          <a:xfrm>
            <a:off x="2437680" y="5270500"/>
            <a:ext cx="19050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Analiza</a:t>
            </a:r>
          </a:p>
        </p:txBody>
      </p:sp>
      <p:sp>
        <p:nvSpPr>
          <p:cNvPr id="20" name="Lee y busca código"/>
          <p:cNvSpPr txBox="1"/>
          <p:nvPr/>
        </p:nvSpPr>
        <p:spPr>
          <a:xfrm>
            <a:off x="2209800" y="5633720"/>
            <a:ext cx="190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Lee y busca código</a:t>
            </a:r>
          </a:p>
        </p:txBody>
      </p:sp>
      <p:sp>
        <p:nvSpPr>
          <p:cNvPr id="21" name="Corrige"/>
          <p:cNvSpPr txBox="1"/>
          <p:nvPr/>
        </p:nvSpPr>
        <p:spPr>
          <a:xfrm>
            <a:off x="4845905" y="5270500"/>
            <a:ext cx="19050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Corrige</a:t>
            </a:r>
          </a:p>
        </p:txBody>
      </p:sp>
      <p:sp>
        <p:nvSpPr>
          <p:cNvPr id="22" name="Edita archivos"/>
          <p:cNvSpPr txBox="1"/>
          <p:nvPr/>
        </p:nvSpPr>
        <p:spPr>
          <a:xfrm>
            <a:off x="4787031" y="5633720"/>
            <a:ext cx="190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Edita archivos</a:t>
            </a:r>
          </a:p>
        </p:txBody>
      </p:sp>
      <p:sp>
        <p:nvSpPr>
          <p:cNvPr id="23" name="Verifica"/>
          <p:cNvSpPr txBox="1"/>
          <p:nvPr/>
        </p:nvSpPr>
        <p:spPr>
          <a:xfrm>
            <a:off x="7251836" y="5270500"/>
            <a:ext cx="19050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Verifica</a:t>
            </a:r>
          </a:p>
        </p:txBody>
      </p:sp>
      <p:sp>
        <p:nvSpPr>
          <p:cNvPr id="24" name="Sintaxis y alcance"/>
          <p:cNvSpPr txBox="1"/>
          <p:nvPr/>
        </p:nvSpPr>
        <p:spPr>
          <a:xfrm>
            <a:off x="7071221" y="5633720"/>
            <a:ext cx="190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Sintaxis y alcance</a:t>
            </a:r>
          </a:p>
        </p:txBody>
      </p:sp>
      <p:sp>
        <p:nvSpPr>
          <p:cNvPr id="25" name="Publica"/>
          <p:cNvSpPr txBox="1"/>
          <p:nvPr/>
        </p:nvSpPr>
        <p:spPr>
          <a:xfrm>
            <a:off x="9678230" y="5270500"/>
            <a:ext cx="1675569"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Publica</a:t>
            </a:r>
          </a:p>
        </p:txBody>
      </p:sp>
      <p:sp>
        <p:nvSpPr>
          <p:cNvPr id="26" name="Issues y PRs"/>
          <p:cNvSpPr txBox="1"/>
          <p:nvPr/>
        </p:nvSpPr>
        <p:spPr>
          <a:xfrm>
            <a:off x="9659391" y="5633720"/>
            <a:ext cx="1694408"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Issues y PRs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3"/>
        </a:solidFill>
        <a:effectLst/>
      </p:bgPr>
    </p:bg>
    <p:spTree>
      <p:nvGrpSpPr>
        <p:cNvPr id="1" name=""/>
        <p:cNvGrpSpPr/>
        <p:nvPr/>
      </p:nvGrpSpPr>
      <p:grpSpPr/>
      <p:pic>
        <p:nvPicPr>
          <p:cNvPr id="2" name="demo-logo"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38500" y="1905000"/>
            <a:ext cx="5715000" cy="1268825"/>
          </a:xfrm>
          <a:prstGeom prst="rect">
            <a:avLst/>
          </a:prstGeom>
        </p:spPr>
      </p:pic>
      <p:pic>
        <p:nvPicPr>
          <p:cNvPr id="3" name="demo-abrir" descr="image.png">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16500" y="4013200"/>
            <a:ext cx="2159000" cy="558800"/>
          </a:xfrm>
          <a:prstGeom prst="rect">
            <a:avLst/>
          </a:prstGeom>
        </p:spPr>
      </p:pic>
      <p:sp>
        <p:nvSpPr>
          <p:cNvPr id="4" name="DEMO"/>
          <p:cNvSpPr txBox="1"/>
          <p:nvPr/>
        </p:nvSpPr>
        <p:spPr>
          <a:xfrm>
            <a:off x="838200" y="560387"/>
            <a:ext cx="10515600"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2B4F42"/>
                </a:solidFill>
                <a:latin typeface="Bahnschrift"/>
              </a:rPr>
              <a:t>DEMO</a:t>
            </a:r>
          </a:p>
        </p:txBody>
      </p:sp>
      <p:sp>
        <p:nvSpPr>
          <p:cNvPr id="5" name="Abrir demo">
            <a:hlinkClick r:id="rId6"/>
          </p:cNvPr>
          <p:cNvSpPr txBox="1"/>
          <p:nvPr/>
        </p:nvSpPr>
        <p:spPr>
          <a:xfrm>
            <a:off x="5431432" y="4175760"/>
            <a:ext cx="1397000" cy="304800"/>
          </a:xfrm>
          <a:prstGeom prst="rect">
            <a:avLst/>
          </a:prstGeom>
          <a:noFill/>
        </p:spPr>
        <p:txBody>
          <a:bodyPr wrap="none" lIns="0" rIns="0" tIns="0" bIns="0" anchor="t">
            <a:noAutofit/>
          </a:bodyPr>
          <a:lstStyle/>
          <a:p>
            <a:pPr>
              <a:lnSpc>
                <a:spcPct val="100000"/>
              </a:lnSpc>
              <a:spcBef>
                <a:spcPts val="0"/>
              </a:spcBef>
              <a:spcAft>
                <a:spcPts val="0"/>
              </a:spcAft>
            </a:pPr>
            <a:r>
              <a:rPr sz="1600" b="0" lang="es-ES">
                <a:solidFill>
                  <a:srgbClr val="FFFFF3"/>
                </a:solidFill>
                <a:latin typeface="Bahnschrift"/>
              </a:rPr>
              <a:t>Abrir demo</a:t>
            </a:r>
          </a:p>
        </p:txBody>
      </p:sp>
      <p:sp>
        <p:nvSpPr>
          <p:cNvPr id="6" name="06 / 08"/>
          <p:cNvSpPr txBox="1"/>
          <p:nvPr/>
        </p:nvSpPr>
        <p:spPr>
          <a:xfrm>
            <a:off x="10845800" y="6369050"/>
            <a:ext cx="508000" cy="190500"/>
          </a:xfrm>
          <a:prstGeom prst="rect">
            <a:avLst/>
          </a:prstGeom>
          <a:noFill/>
        </p:spPr>
        <p:txBody>
          <a:bodyPr wrap="none" lIns="0" rIns="0" tIns="0" bIns="0" anchor="t">
            <a:noAutofit/>
          </a:bodyPr>
          <a:lstStyle/>
          <a:p>
            <a:pPr>
              <a:lnSpc>
                <a:spcPct val="100000"/>
              </a:lnSpc>
              <a:spcBef>
                <a:spcPts val="0"/>
              </a:spcBef>
              <a:spcAft>
                <a:spcPts val="0"/>
              </a:spcAft>
            </a:pPr>
            <a:r>
              <a:rPr sz="1000" b="0" lang="es-ES">
                <a:solidFill>
                  <a:srgbClr val="2B4F42"/>
                </a:solidFill>
                <a:latin typeface="Bahnschrift"/>
              </a:rPr>
              <a:t>06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B4F42"/>
        </a:solidFill>
        <a:effectLst/>
      </p:bgPr>
    </p:bg>
    <p:spTree>
      <p:nvGrpSpPr>
        <p:cNvPr id="1" name=""/>
        <p:cNvGrpSpPr/>
        <p:nvPr/>
      </p:nvGrpSpPr>
      <p:grpSpPr/>
      <p:pic>
        <p:nvPicPr>
          <p:cNvPr id="2" name="negocio-diagrama"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3" name="negocio-isotipo" descr="image.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36300" y="476250"/>
            <a:ext cx="317500" cy="272161"/>
          </a:xfrm>
          <a:prstGeom prst="rect">
            <a:avLst/>
          </a:prstGeom>
        </p:spPr>
      </p:pic>
      <p:sp>
        <p:nvSpPr>
          <p:cNvPr id="4" name="CLIENTE Y NEGOCIO"/>
          <p:cNvSpPr txBox="1"/>
          <p:nvPr/>
        </p:nvSpPr>
        <p:spPr>
          <a:xfrm>
            <a:off x="838200" y="560387"/>
            <a:ext cx="10515600" cy="238125"/>
          </a:xfrm>
          <a:prstGeom prst="rect">
            <a:avLst/>
          </a:prstGeom>
          <a:noFill/>
        </p:spPr>
        <p:txBody>
          <a:bodyPr wrap="none" lIns="0" rIns="0" tIns="0" bIns="0" anchor="t">
            <a:noAutofit/>
          </a:bodyPr>
          <a:lstStyle/>
          <a:p>
            <a:pPr>
              <a:lnSpc>
                <a:spcPct val="100000"/>
              </a:lnSpc>
              <a:spcBef>
                <a:spcPts val="0"/>
              </a:spcBef>
              <a:spcAft>
                <a:spcPts val="0"/>
              </a:spcAft>
            </a:pPr>
            <a:r>
              <a:rPr sz="1250" b="0" lang="es-ES">
                <a:solidFill>
                  <a:srgbClr val="FFFFF3"/>
                </a:solidFill>
                <a:latin typeface="Bahnschrift"/>
              </a:rPr>
              <a:t>CLIENTE Y NEGOCIO</a:t>
            </a:r>
          </a:p>
        </p:txBody>
      </p:sp>
      <p:sp>
        <p:nvSpPr>
          <p:cNvPr id="5" name="Para empresas de software"/>
          <p:cNvSpPr txBox="1"/>
          <p:nvPr/>
        </p:nvSpPr>
        <p:spPr>
          <a:xfrm>
            <a:off x="838200" y="1062990"/>
            <a:ext cx="10515600" cy="647700"/>
          </a:xfrm>
          <a:prstGeom prst="rect">
            <a:avLst/>
          </a:prstGeom>
          <a:noFill/>
        </p:spPr>
        <p:txBody>
          <a:bodyPr wrap="none" lIns="0" rIns="0" tIns="0" bIns="0" anchor="t">
            <a:noAutofit/>
          </a:bodyPr>
          <a:lstStyle/>
          <a:p>
            <a:pPr>
              <a:lnSpc>
                <a:spcPct val="100000"/>
              </a:lnSpc>
              <a:spcBef>
                <a:spcPts val="0"/>
              </a:spcBef>
              <a:spcAft>
                <a:spcPts val="0"/>
              </a:spcAft>
            </a:pPr>
            <a:r>
              <a:rPr sz="3400" b="0" lang="es-ES">
                <a:solidFill>
                  <a:srgbClr val="FFFFF3"/>
                </a:solidFill>
                <a:latin typeface="Bahnschrift"/>
              </a:rPr>
              <a:t>Para empresas de software</a:t>
            </a:r>
          </a:p>
        </p:txBody>
      </p:sp>
      <p:sp>
        <p:nvSpPr>
          <p:cNvPr id="6" name="sin equipo SEO."/>
          <p:cNvSpPr txBox="1"/>
          <p:nvPr/>
        </p:nvSpPr>
        <p:spPr>
          <a:xfrm>
            <a:off x="838200" y="1532890"/>
            <a:ext cx="10515600" cy="647700"/>
          </a:xfrm>
          <a:prstGeom prst="rect">
            <a:avLst/>
          </a:prstGeom>
          <a:noFill/>
        </p:spPr>
        <p:txBody>
          <a:bodyPr wrap="none" lIns="0" rIns="0" tIns="0" bIns="0" anchor="t">
            <a:noAutofit/>
          </a:bodyPr>
          <a:lstStyle/>
          <a:p>
            <a:pPr>
              <a:lnSpc>
                <a:spcPct val="100000"/>
              </a:lnSpc>
              <a:spcBef>
                <a:spcPts val="0"/>
              </a:spcBef>
              <a:spcAft>
                <a:spcPts val="0"/>
              </a:spcAft>
            </a:pPr>
            <a:r>
              <a:rPr sz="3400" b="0" lang="es-ES">
                <a:solidFill>
                  <a:srgbClr val="FFFFF3"/>
                </a:solidFill>
                <a:latin typeface="Bahnschrift"/>
              </a:rPr>
              <a:t>sin equipo SEO.</a:t>
            </a:r>
          </a:p>
        </p:txBody>
      </p:sp>
      <p:sp>
        <p:nvSpPr>
          <p:cNvPr id="7" name="QUIÉN PAGA"/>
          <p:cNvSpPr txBox="1"/>
          <p:nvPr/>
        </p:nvSpPr>
        <p:spPr>
          <a:xfrm>
            <a:off x="1989968" y="2287270"/>
            <a:ext cx="317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QUIÉN PAGA</a:t>
            </a:r>
          </a:p>
        </p:txBody>
      </p:sp>
      <p:sp>
        <p:nvSpPr>
          <p:cNvPr id="8" name="QUÉ RECIBE"/>
          <p:cNvSpPr txBox="1"/>
          <p:nvPr/>
        </p:nvSpPr>
        <p:spPr>
          <a:xfrm>
            <a:off x="5671914" y="2287270"/>
            <a:ext cx="3175000"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QUÉ RECIBE</a:t>
            </a:r>
          </a:p>
        </p:txBody>
      </p:sp>
      <p:sp>
        <p:nvSpPr>
          <p:cNvPr id="9" name="CÓMO COBRAMOS"/>
          <p:cNvSpPr txBox="1"/>
          <p:nvPr/>
        </p:nvSpPr>
        <p:spPr>
          <a:xfrm>
            <a:off x="9140924" y="2287270"/>
            <a:ext cx="2212875" cy="228600"/>
          </a:xfrm>
          <a:prstGeom prst="rect">
            <a:avLst/>
          </a:prstGeom>
          <a:noFill/>
        </p:spPr>
        <p:txBody>
          <a:bodyPr wrap="none" lIns="0" rIns="0" tIns="0" bIns="0" anchor="t">
            <a:noAutofit/>
          </a:bodyPr>
          <a:lstStyle/>
          <a:p>
            <a:pPr>
              <a:lnSpc>
                <a:spcPct val="100000"/>
              </a:lnSpc>
              <a:spcBef>
                <a:spcPts val="0"/>
              </a:spcBef>
              <a:spcAft>
                <a:spcPts val="0"/>
              </a:spcAft>
            </a:pPr>
            <a:r>
              <a:rPr sz="1200" b="0" lang="es-ES">
                <a:solidFill>
                  <a:srgbClr val="E0EFDA"/>
                </a:solidFill>
                <a:latin typeface="Bahnschrift"/>
              </a:rPr>
              <a:t>CÓMO COBRAMOS</a:t>
            </a:r>
          </a:p>
        </p:txBody>
      </p:sp>
      <p:sp>
        <p:nvSpPr>
          <p:cNvPr id="10" name="Fundador"/>
          <p:cNvSpPr txBox="1"/>
          <p:nvPr/>
        </p:nvSpPr>
        <p:spPr>
          <a:xfrm>
            <a:off x="1831156" y="3703320"/>
            <a:ext cx="3175000" cy="419100"/>
          </a:xfrm>
          <a:prstGeom prst="rect">
            <a:avLst/>
          </a:prstGeom>
          <a:noFill/>
        </p:spPr>
        <p:txBody>
          <a:bodyPr wrap="none" lIns="0" rIns="0" tIns="0" bIns="0" anchor="t">
            <a:noAutofit/>
          </a:bodyPr>
          <a:lstStyle/>
          <a:p>
            <a:pPr>
              <a:lnSpc>
                <a:spcPct val="100000"/>
              </a:lnSpc>
              <a:spcBef>
                <a:spcPts val="0"/>
              </a:spcBef>
              <a:spcAft>
                <a:spcPts val="0"/>
              </a:spcAft>
            </a:pPr>
            <a:r>
              <a:rPr sz="2200" b="0" lang="es-ES">
                <a:solidFill>
                  <a:srgbClr val="FFFFF3"/>
                </a:solidFill>
                <a:latin typeface="Bahnschrift"/>
              </a:rPr>
              <a:t>Fundador</a:t>
            </a:r>
          </a:p>
        </p:txBody>
      </p:sp>
      <p:sp>
        <p:nvSpPr>
          <p:cNvPr id="11" name="de un SaaS pequeño"/>
          <p:cNvSpPr txBox="1"/>
          <p:nvPr/>
        </p:nvSpPr>
        <p:spPr>
          <a:xfrm>
            <a:off x="1616137" y="4117339"/>
            <a:ext cx="3175000" cy="266700"/>
          </a:xfrm>
          <a:prstGeom prst="rect">
            <a:avLst/>
          </a:prstGeom>
          <a:noFill/>
        </p:spPr>
        <p:txBody>
          <a:bodyPr wrap="none" lIns="0" rIns="0" tIns="0" bIns="0" anchor="t">
            <a:noAutofit/>
          </a:bodyPr>
          <a:lstStyle/>
          <a:p>
            <a:pPr>
              <a:lnSpc>
                <a:spcPct val="100000"/>
              </a:lnSpc>
              <a:spcBef>
                <a:spcPts val="0"/>
              </a:spcBef>
              <a:spcAft>
                <a:spcPts val="0"/>
              </a:spcAft>
            </a:pPr>
            <a:r>
              <a:rPr sz="1400" b="0" lang="es-ES">
                <a:solidFill>
                  <a:srgbClr val="E0EFDA"/>
                </a:solidFill>
                <a:latin typeface="Bahnschrift"/>
              </a:rPr>
              <a:t>de un SaaS pequeño</a:t>
            </a:r>
          </a:p>
        </p:txBody>
      </p:sp>
      <p:sp>
        <p:nvSpPr>
          <p:cNvPr id="12" name="Con web en GitHub"/>
          <p:cNvSpPr txBox="1"/>
          <p:nvPr/>
        </p:nvSpPr>
        <p:spPr>
          <a:xfrm>
            <a:off x="1698879" y="4459922"/>
            <a:ext cx="3175000" cy="257175"/>
          </a:xfrm>
          <a:prstGeom prst="rect">
            <a:avLst/>
          </a:prstGeom>
          <a:noFill/>
        </p:spPr>
        <p:txBody>
          <a:bodyPr wrap="none" lIns="0" rIns="0" tIns="0" bIns="0" anchor="t">
            <a:noAutofit/>
          </a:bodyPr>
          <a:lstStyle/>
          <a:p>
            <a:pPr>
              <a:lnSpc>
                <a:spcPct val="100000"/>
              </a:lnSpc>
              <a:spcBef>
                <a:spcPts val="0"/>
              </a:spcBef>
              <a:spcAft>
                <a:spcPts val="0"/>
              </a:spcAft>
            </a:pPr>
            <a:r>
              <a:rPr sz="1350" b="0" lang="es-ES">
                <a:solidFill>
                  <a:srgbClr val="E0EFDA"/>
                </a:solidFill>
                <a:latin typeface="Bahnschrift"/>
              </a:rPr>
              <a:t>Con web en GitHub</a:t>
            </a:r>
          </a:p>
        </p:txBody>
      </p:sp>
      <p:sp>
        <p:nvSpPr>
          <p:cNvPr id="13" name="Diagnóstico de marca"/>
          <p:cNvSpPr txBox="1"/>
          <p:nvPr/>
        </p:nvSpPr>
        <p:spPr>
          <a:xfrm>
            <a:off x="4928263" y="3739515"/>
            <a:ext cx="3175000" cy="361950"/>
          </a:xfrm>
          <a:prstGeom prst="rect">
            <a:avLst/>
          </a:prstGeom>
          <a:noFill/>
        </p:spPr>
        <p:txBody>
          <a:bodyPr wrap="none" lIns="0" rIns="0" tIns="0" bIns="0" anchor="t">
            <a:noAutofit/>
          </a:bodyPr>
          <a:lstStyle/>
          <a:p>
            <a:pPr>
              <a:lnSpc>
                <a:spcPct val="100000"/>
              </a:lnSpc>
              <a:spcBef>
                <a:spcPts val="0"/>
              </a:spcBef>
              <a:spcAft>
                <a:spcPts val="0"/>
              </a:spcAft>
            </a:pPr>
            <a:r>
              <a:rPr sz="1900" b="0" lang="es-ES">
                <a:solidFill>
                  <a:srgbClr val="FFFFF3"/>
                </a:solidFill>
                <a:latin typeface="Bahnschrift"/>
              </a:rPr>
              <a:t>Diagnóstico de marca</a:t>
            </a:r>
          </a:p>
        </p:txBody>
      </p:sp>
      <p:sp>
        <p:nvSpPr>
          <p:cNvPr id="14" name="y correcciones web"/>
          <p:cNvSpPr txBox="1"/>
          <p:nvPr/>
        </p:nvSpPr>
        <p:spPr>
          <a:xfrm>
            <a:off x="4989648" y="4044949"/>
            <a:ext cx="3175000" cy="381000"/>
          </a:xfrm>
          <a:prstGeom prst="rect">
            <a:avLst/>
          </a:prstGeom>
          <a:noFill/>
        </p:spPr>
        <p:txBody>
          <a:bodyPr wrap="none" lIns="0" rIns="0" tIns="0" bIns="0" anchor="t">
            <a:noAutofit/>
          </a:bodyPr>
          <a:lstStyle/>
          <a:p>
            <a:pPr>
              <a:lnSpc>
                <a:spcPct val="100000"/>
              </a:lnSpc>
              <a:spcBef>
                <a:spcPts val="0"/>
              </a:spcBef>
              <a:spcAft>
                <a:spcPts val="0"/>
              </a:spcAft>
            </a:pPr>
            <a:r>
              <a:rPr sz="2000" b="0" lang="es-ES">
                <a:solidFill>
                  <a:srgbClr val="FFFFF3"/>
                </a:solidFill>
                <a:latin typeface="Bahnschrift"/>
              </a:rPr>
              <a:t>y correcciones web</a:t>
            </a:r>
          </a:p>
        </p:txBody>
      </p:sp>
      <p:sp>
        <p:nvSpPr>
          <p:cNvPr id="15" name="Cambios para revisar"/>
          <p:cNvSpPr txBox="1"/>
          <p:nvPr/>
        </p:nvSpPr>
        <p:spPr>
          <a:xfrm>
            <a:off x="5270520" y="4459922"/>
            <a:ext cx="3175000" cy="257175"/>
          </a:xfrm>
          <a:prstGeom prst="rect">
            <a:avLst/>
          </a:prstGeom>
          <a:noFill/>
        </p:spPr>
        <p:txBody>
          <a:bodyPr wrap="none" lIns="0" rIns="0" tIns="0" bIns="0" anchor="t">
            <a:noAutofit/>
          </a:bodyPr>
          <a:lstStyle/>
          <a:p>
            <a:pPr>
              <a:lnSpc>
                <a:spcPct val="100000"/>
              </a:lnSpc>
              <a:spcBef>
                <a:spcPts val="0"/>
              </a:spcBef>
              <a:spcAft>
                <a:spcPts val="0"/>
              </a:spcAft>
            </a:pPr>
            <a:r>
              <a:rPr sz="1350" b="0" lang="es-ES">
                <a:solidFill>
                  <a:srgbClr val="E0EFDA"/>
                </a:solidFill>
                <a:latin typeface="Bahnschrift"/>
              </a:rPr>
              <a:t>Cambios para revisar</a:t>
            </a:r>
          </a:p>
        </p:txBody>
      </p:sp>
      <p:sp>
        <p:nvSpPr>
          <p:cNvPr id="16" name="Cuota mensual"/>
          <p:cNvSpPr txBox="1"/>
          <p:nvPr/>
        </p:nvSpPr>
        <p:spPr>
          <a:xfrm>
            <a:off x="8831101" y="3703320"/>
            <a:ext cx="2522698" cy="419100"/>
          </a:xfrm>
          <a:prstGeom prst="rect">
            <a:avLst/>
          </a:prstGeom>
          <a:noFill/>
        </p:spPr>
        <p:txBody>
          <a:bodyPr wrap="none" lIns="0" rIns="0" tIns="0" bIns="0" anchor="t">
            <a:noAutofit/>
          </a:bodyPr>
          <a:lstStyle/>
          <a:p>
            <a:pPr>
              <a:lnSpc>
                <a:spcPct val="100000"/>
              </a:lnSpc>
              <a:spcBef>
                <a:spcPts val="0"/>
              </a:spcBef>
              <a:spcAft>
                <a:spcPts val="0"/>
              </a:spcAft>
            </a:pPr>
            <a:r>
              <a:rPr sz="2200" b="0" lang="es-ES">
                <a:solidFill>
                  <a:srgbClr val="FFFFF3"/>
                </a:solidFill>
                <a:latin typeface="Bahnschrift"/>
              </a:rPr>
              <a:t>Cuota mensual</a:t>
            </a:r>
          </a:p>
        </p:txBody>
      </p:sp>
      <p:sp>
        <p:nvSpPr>
          <p:cNvPr id="17" name="Según volumen de análisis"/>
          <p:cNvSpPr txBox="1"/>
          <p:nvPr/>
        </p:nvSpPr>
        <p:spPr>
          <a:xfrm>
            <a:off x="8739316" y="4123372"/>
            <a:ext cx="2614483" cy="257175"/>
          </a:xfrm>
          <a:prstGeom prst="rect">
            <a:avLst/>
          </a:prstGeom>
          <a:noFill/>
        </p:spPr>
        <p:txBody>
          <a:bodyPr wrap="none" lIns="0" rIns="0" tIns="0" bIns="0" anchor="t">
            <a:noAutofit/>
          </a:bodyPr>
          <a:lstStyle/>
          <a:p>
            <a:pPr>
              <a:lnSpc>
                <a:spcPct val="100000"/>
              </a:lnSpc>
              <a:spcBef>
                <a:spcPts val="0"/>
              </a:spcBef>
              <a:spcAft>
                <a:spcPts val="0"/>
              </a:spcAft>
            </a:pPr>
            <a:r>
              <a:rPr sz="1350" b="0" lang="es-ES">
                <a:solidFill>
                  <a:srgbClr val="E0EFDA"/>
                </a:solidFill>
                <a:latin typeface="Bahnschrift"/>
              </a:rPr>
              <a:t>Según volumen de análisis</a:t>
            </a:r>
          </a:p>
        </p:txBody>
      </p:sp>
      <p:sp>
        <p:nvSpPr>
          <p:cNvPr id="18" name="€"/>
          <p:cNvSpPr txBox="1"/>
          <p:nvPr/>
        </p:nvSpPr>
        <p:spPr>
          <a:xfrm>
            <a:off x="9676305" y="3055937"/>
            <a:ext cx="381000" cy="428625"/>
          </a:xfrm>
          <a:prstGeom prst="rect">
            <a:avLst/>
          </a:prstGeom>
          <a:noFill/>
        </p:spPr>
        <p:txBody>
          <a:bodyPr wrap="none" lIns="0" rIns="0" tIns="0" bIns="0" anchor="t">
            <a:noAutofit/>
          </a:bodyPr>
          <a:lstStyle/>
          <a:p>
            <a:pPr>
              <a:lnSpc>
                <a:spcPct val="100000"/>
              </a:lnSpc>
              <a:spcBef>
                <a:spcPts val="0"/>
              </a:spcBef>
              <a:spcAft>
                <a:spcPts val="0"/>
              </a:spcAft>
            </a:pPr>
            <a:r>
              <a:rPr sz="2250" b="0" lang="es-ES">
                <a:solidFill>
                  <a:srgbClr val="FFFFF3"/>
                </a:solidFill>
                <a:latin typeface="Bahnschrift"/>
              </a:rPr>
              <a:t>€</a:t>
            </a:r>
          </a:p>
        </p:txBody>
      </p:sp>
      <p:sp>
        <p:nvSpPr>
          <p:cNvPr id="19" name="Primero: probarlo con fundadores de pequeños SaaS."/>
          <p:cNvSpPr txBox="1"/>
          <p:nvPr/>
        </p:nvSpPr>
        <p:spPr>
          <a:xfrm>
            <a:off x="838200" y="5719445"/>
            <a:ext cx="10515600" cy="323850"/>
          </a:xfrm>
          <a:prstGeom prst="rect">
            <a:avLst/>
          </a:prstGeom>
          <a:noFill/>
        </p:spPr>
        <p:txBody>
          <a:bodyPr wrap="none" lIns="0" rIns="0" tIns="0" bIns="0" anchor="t">
            <a:noAutofit/>
          </a:bodyPr>
          <a:lstStyle/>
          <a:p>
            <a:pPr>
              <a:lnSpc>
                <a:spcPct val="100000"/>
              </a:lnSpc>
              <a:spcBef>
                <a:spcPts val="0"/>
              </a:spcBef>
              <a:spcAft>
                <a:spcPts val="0"/>
              </a:spcAft>
            </a:pPr>
            <a:r>
              <a:rPr sz="1700" b="0" lang="es-ES">
                <a:solidFill>
                  <a:srgbClr val="FFFFF3"/>
                </a:solidFill>
                <a:latin typeface="Bahnschrift"/>
              </a:rPr>
              <a:t>Primero: probarlo con fundadores de pequeños SaaS.</a:t>
            </a:r>
          </a:p>
        </p:txBody>
      </p:sp>
      <p:sp>
        <p:nvSpPr>
          <p:cNvPr id="20" name="07 / 08"/>
          <p:cNvSpPr txBox="1"/>
          <p:nvPr/>
        </p:nvSpPr>
        <p:spPr>
          <a:xfrm>
            <a:off x="10845800" y="6369050"/>
            <a:ext cx="508000" cy="190500"/>
          </a:xfrm>
          <a:prstGeom prst="rect">
            <a:avLst/>
          </a:prstGeom>
          <a:noFill/>
        </p:spPr>
        <p:txBody>
          <a:bodyPr wrap="none" lIns="0" rIns="0" tIns="0" bIns="0" anchor="t">
            <a:noAutofit/>
          </a:bodyPr>
          <a:lstStyle/>
          <a:p>
            <a:pPr>
              <a:lnSpc>
                <a:spcPct val="100000"/>
              </a:lnSpc>
              <a:spcBef>
                <a:spcPts val="0"/>
              </a:spcBef>
              <a:spcAft>
                <a:spcPts val="0"/>
              </a:spcAft>
            </a:pPr>
            <a:r>
              <a:rPr sz="1000" b="0" lang="es-ES">
                <a:solidFill>
                  <a:srgbClr val="E0EFDA"/>
                </a:solidFill>
                <a:latin typeface="Bahnschrift"/>
              </a:rPr>
              <a:t>07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3"/>
        </a:solidFill>
        <a:effectLst/>
      </p:bgPr>
    </p:bg>
    <p:spTree>
      <p:nvGrpSpPr>
        <p:cNvPr id="1" name=""/>
        <p:cNvGrpSpPr/>
        <p:nvPr/>
      </p:nvGrpSpPr>
      <p:grpSpPr/>
      <p:pic>
        <p:nvPicPr>
          <p:cNvPr id="2" name="cierre-imagotipo" descr="image.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97250" y="1397000"/>
            <a:ext cx="5397500" cy="1198334"/>
          </a:xfrm>
          <a:prstGeom prst="rect">
            <a:avLst/>
          </a:prstGeom>
        </p:spPr>
      </p:pic>
      <p:sp>
        <p:nvSpPr>
          <p:cNvPr id="3" name="Entiende tu visibilidad."/>
          <p:cNvSpPr txBox="1"/>
          <p:nvPr/>
        </p:nvSpPr>
        <p:spPr>
          <a:xfrm>
            <a:off x="4060825" y="3233420"/>
            <a:ext cx="7292975" cy="609600"/>
          </a:xfrm>
          <a:prstGeom prst="rect">
            <a:avLst/>
          </a:prstGeom>
          <a:noFill/>
        </p:spPr>
        <p:txBody>
          <a:bodyPr wrap="none" lIns="0" rIns="0" tIns="0" bIns="0" anchor="t">
            <a:noAutofit/>
          </a:bodyPr>
          <a:lstStyle/>
          <a:p>
            <a:pPr>
              <a:lnSpc>
                <a:spcPct val="100000"/>
              </a:lnSpc>
              <a:spcBef>
                <a:spcPts val="0"/>
              </a:spcBef>
              <a:spcAft>
                <a:spcPts val="0"/>
              </a:spcAft>
            </a:pPr>
            <a:r>
              <a:rPr sz="3200" b="0" lang="es-ES">
                <a:solidFill>
                  <a:srgbClr val="2E282A"/>
                </a:solidFill>
                <a:latin typeface="Bahnschrift"/>
              </a:rPr>
              <a:t>Entiende tu visibilidad.</a:t>
            </a:r>
          </a:p>
        </p:txBody>
      </p:sp>
      <p:sp>
        <p:nvSpPr>
          <p:cNvPr id="4" name="Mejora tu web."/>
          <p:cNvSpPr txBox="1"/>
          <p:nvPr/>
        </p:nvSpPr>
        <p:spPr>
          <a:xfrm>
            <a:off x="4757539" y="3741420"/>
            <a:ext cx="6596260" cy="609600"/>
          </a:xfrm>
          <a:prstGeom prst="rect">
            <a:avLst/>
          </a:prstGeom>
          <a:noFill/>
        </p:spPr>
        <p:txBody>
          <a:bodyPr wrap="none" lIns="0" rIns="0" tIns="0" bIns="0" anchor="t">
            <a:noAutofit/>
          </a:bodyPr>
          <a:lstStyle/>
          <a:p>
            <a:pPr>
              <a:lnSpc>
                <a:spcPct val="100000"/>
              </a:lnSpc>
              <a:spcBef>
                <a:spcPts val="0"/>
              </a:spcBef>
              <a:spcAft>
                <a:spcPts val="0"/>
              </a:spcAft>
            </a:pPr>
            <a:r>
              <a:rPr sz="3200" b="0" lang="es-ES">
                <a:solidFill>
                  <a:srgbClr val="2B4F42"/>
                </a:solidFill>
                <a:latin typeface="Bahnschrift"/>
              </a:rPr>
              <a:t>Mejora tu web.</a:t>
            </a:r>
          </a:p>
        </p:txBody>
      </p:sp>
      <p:sp>
        <p:nvSpPr>
          <p:cNvPr id="5" name="Rafael Pradillo  ·  Álvaro Fernández-Aller  ·  Carlos Blázquez  ·  Alejandro Ferreras  ·  Jaime Poyatos"/>
          <p:cNvSpPr txBox="1"/>
          <p:nvPr/>
        </p:nvSpPr>
        <p:spPr>
          <a:xfrm>
            <a:off x="838200" y="6356985"/>
            <a:ext cx="9398000" cy="209550"/>
          </a:xfrm>
          <a:prstGeom prst="rect">
            <a:avLst/>
          </a:prstGeom>
          <a:noFill/>
        </p:spPr>
        <p:txBody>
          <a:bodyPr wrap="none" lIns="0" rIns="0" tIns="0" bIns="0" anchor="t">
            <a:noAutofit/>
          </a:bodyPr>
          <a:lstStyle/>
          <a:p>
            <a:pPr>
              <a:lnSpc>
                <a:spcPct val="100000"/>
              </a:lnSpc>
              <a:spcBef>
                <a:spcPts val="0"/>
              </a:spcBef>
              <a:spcAft>
                <a:spcPts val="0"/>
              </a:spcAft>
            </a:pPr>
            <a:r>
              <a:rPr sz="1100" b="0" lang="es-ES">
                <a:solidFill>
                  <a:srgbClr val="2B4F42"/>
                </a:solidFill>
                <a:latin typeface="Bahnschrift"/>
              </a:rPr>
              <a:t>Rafael Pradillo  ·  Álvaro Fernández-Aller  ·  Carlos Blázquez  ·  Alejandro Ferreras  ·  Jaime Poyatos</a:t>
            </a:r>
          </a:p>
        </p:txBody>
      </p:sp>
      <p:sp>
        <p:nvSpPr>
          <p:cNvPr id="6" name="08 / 08"/>
          <p:cNvSpPr txBox="1"/>
          <p:nvPr/>
        </p:nvSpPr>
        <p:spPr>
          <a:xfrm>
            <a:off x="10845800" y="6369050"/>
            <a:ext cx="508000" cy="190500"/>
          </a:xfrm>
          <a:prstGeom prst="rect">
            <a:avLst/>
          </a:prstGeom>
          <a:noFill/>
        </p:spPr>
        <p:txBody>
          <a:bodyPr wrap="none" lIns="0" rIns="0" tIns="0" bIns="0" anchor="t">
            <a:noAutofit/>
          </a:bodyPr>
          <a:lstStyle/>
          <a:p>
            <a:pPr>
              <a:lnSpc>
                <a:spcPct val="100000"/>
              </a:lnSpc>
              <a:spcBef>
                <a:spcPts val="0"/>
              </a:spcBef>
              <a:spcAft>
                <a:spcPts val="0"/>
              </a:spcAft>
            </a:pPr>
            <a:r>
              <a:rPr sz="1000" b="0" lang="es-ES">
                <a:solidFill>
                  <a:srgbClr val="2B4F42"/>
                </a:solidFill>
                <a:latin typeface="Bahnschrift"/>
              </a:rPr>
              <a:t>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Fortop · Pitch</dc:title>
  <dc:subject>Visibilidad de marca y remediación SEO/GEO</dc:subject>
  <dc:creator>Rafael Pradillo; Álvaro Fernández-Aller; Carlos Blázquez; Alejandro Ferreras; Jaime Poyatos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es-ES</dc:language>
</cp:coreProperties>
</file>